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jpe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97e57d17b3de64ccd876b4c343fe77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858500" y="1143000"/>
            <a:ext cx="7048195" cy="70481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239805" y="1524305"/>
            <a:ext cx="6324905" cy="6324905"/>
          </a:xfrm>
          <a:prstGeom prst="ellipse">
            <a:avLst/>
          </a:prstGeom>
          <a:noFill/>
          <a:ln w="25400">
            <a:solidFill>
              <a:srgbClr val="5C3218">
                <a:alpha val="18000"/>
              </a:srgbClr>
            </a:solidFill>
            <a:prstDash val="solid"/>
          </a:ln>
        </p:spPr>
      </p:sp>
      <p:pic>
        <p:nvPicPr>
          <p:cNvPr id="4" name="Image 1" descr="gen-dedup-3fa902be969534ff1423dfe257859bb7.png">    </p:cNvPr>
          <p:cNvPicPr>
            <a:picLocks noChangeAspect="1"/>
          </p:cNvPicPr>
          <p:nvPr/>
        </p:nvPicPr>
        <p:blipFill>
          <a:blip r:embed="rId2"/>
          <a:srcRect l="0" r="0" t="-10" b="-10"/>
          <a:stretch/>
        </p:blipFill>
        <p:spPr>
          <a:xfrm>
            <a:off x="571500" y="857707"/>
            <a:ext cx="2286000" cy="1524305"/>
          </a:xfrm>
          <a:prstGeom prst="rect">
            <a:avLst/>
          </a:prstGeom>
        </p:spPr>
      </p:pic>
      <p:pic>
        <p:nvPicPr>
          <p:cNvPr id="5" name="Image 2" descr="gen-dedup-0d8511b58cf490007bbe17489671be8d.png">    </p:cNvPr>
          <p:cNvPicPr>
            <a:picLocks noChangeAspect="1"/>
          </p:cNvPicPr>
          <p:nvPr/>
        </p:nvPicPr>
        <p:blipFill>
          <a:blip r:embed="rId3"/>
          <a:srcRect l="0" r="0" t="-33" b="-33"/>
          <a:stretch/>
        </p:blipFill>
        <p:spPr>
          <a:xfrm>
            <a:off x="761695" y="8001000"/>
            <a:ext cx="2476195" cy="857707"/>
          </a:xfrm>
          <a:prstGeom prst="rect">
            <a:avLst/>
          </a:prstGeom>
        </p:spPr>
      </p:pic>
      <p:pic>
        <p:nvPicPr>
          <p:cNvPr id="6" name="Image 3" descr="柿のキャラクター かき丸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716207" y="1904695"/>
            <a:ext cx="5333695" cy="5333695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 rot="2700000">
            <a:off x="15430500" y="8096098"/>
            <a:ext cx="352044" cy="352044"/>
          </a:xfrm>
          <a:prstGeom prst="rect">
            <a:avLst/>
          </a:prstGeom>
          <a:solidFill>
            <a:srgbClr val="FFFBEC"/>
          </a:solidFill>
          <a:ln w="38100">
            <a:solidFill>
              <a:srgbClr val="5C3218"/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10573207" y="8382305"/>
            <a:ext cx="5772607" cy="1390802"/>
          </a:xfrm>
          <a:prstGeom prst="roundRect">
            <a:avLst>
              <a:gd name="adj" fmla="val 47929"/>
            </a:avLst>
          </a:prstGeom>
          <a:solidFill>
            <a:srgbClr val="FFFBEC"/>
          </a:solidFill>
          <a:ln w="38100">
            <a:solidFill>
              <a:srgbClr val="5C3218"/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1143000" y="1333195"/>
            <a:ext cx="3429000" cy="571500"/>
          </a:xfrm>
          <a:prstGeom prst="roundRect">
            <a:avLst>
              <a:gd name="adj" fmla="val 50080"/>
            </a:avLst>
          </a:prstGeom>
          <a:solidFill>
            <a:srgbClr val="5C32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4"/>
          <p:cNvSpPr txBox="1"/>
          <p:nvPr/>
        </p:nvSpPr>
        <p:spPr>
          <a:xfrm>
            <a:off x="1143000" y="2667305"/>
            <a:ext cx="11782958" cy="228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0" b="1" spc="600" kern="0" dirty="0">
                <a:solidFill>
                  <a:srgbClr val="5C321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柿の</a:t>
            </a:r>
            <a:pPr algn="l" indent="0" marL="0">
              <a:buNone/>
            </a:pPr>
            <a:r>
              <a:rPr lang="en-US" sz="16500" b="1" spc="600" kern="0" dirty="0">
                <a:solidFill>
                  <a:srgbClr val="E66A1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魅力</a:t>
            </a:r>
            <a:endParaRPr lang="en-US" sz="16500" dirty="0"/>
          </a:p>
        </p:txBody>
      </p:sp>
      <p:sp>
        <p:nvSpPr>
          <p:cNvPr id="11" name="Text 5"/>
          <p:cNvSpPr txBox="1"/>
          <p:nvPr/>
        </p:nvSpPr>
        <p:spPr>
          <a:xfrm>
            <a:off x="1218895" y="5905195"/>
            <a:ext cx="8572500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E66A1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〜かき丸がご案内〜</a:t>
            </a:r>
            <a:endParaRPr lang="en-US" sz="4500" dirty="0"/>
          </a:p>
        </p:txBody>
      </p:sp>
      <p:sp>
        <p:nvSpPr>
          <p:cNvPr id="12" name="Text 6"/>
          <p:cNvSpPr txBox="1"/>
          <p:nvPr/>
        </p:nvSpPr>
        <p:spPr>
          <a:xfrm>
            <a:off x="1218895" y="7048195"/>
            <a:ext cx="85725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5C3218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古来より秋を彩る、あまくて・健やかで・奥深い果樹。</a:t>
            </a:r>
            <a:endParaRPr lang="en-US" sz="2250" dirty="0"/>
          </a:p>
        </p:txBody>
      </p:sp>
      <p:sp>
        <p:nvSpPr>
          <p:cNvPr id="13" name="Text 7"/>
          <p:cNvSpPr txBox="1"/>
          <p:nvPr/>
        </p:nvSpPr>
        <p:spPr>
          <a:xfrm>
            <a:off x="1143000" y="9477756"/>
            <a:ext cx="5715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A55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案内役:かき丸 ・ 全5枚の読みもの</a:t>
            </a:r>
            <a:endParaRPr lang="en-US" sz="1350" dirty="0"/>
          </a:p>
        </p:txBody>
      </p:sp>
      <p:sp>
        <p:nvSpPr>
          <p:cNvPr id="14" name="Text 8"/>
          <p:cNvSpPr txBox="1"/>
          <p:nvPr/>
        </p:nvSpPr>
        <p:spPr>
          <a:xfrm>
            <a:off x="16192195" y="9620402"/>
            <a:ext cx="1905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b="1" spc="225" kern="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 / 05</a:t>
            </a:r>
            <a:endParaRPr lang="en-US" sz="1650" dirty="0"/>
          </a:p>
        </p:txBody>
      </p:sp>
      <p:sp>
        <p:nvSpPr>
          <p:cNvPr id="15" name="Text 9"/>
          <p:cNvSpPr txBox="1"/>
          <p:nvPr/>
        </p:nvSpPr>
        <p:spPr>
          <a:xfrm>
            <a:off x="11118190" y="8813902"/>
            <a:ext cx="4629607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5C321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今年も、</a:t>
            </a:r>
            <a:pPr algn="ctr" indent="0" marL="0">
              <a:buNone/>
            </a:pPr>
            <a:r>
              <a:rPr lang="en-US" sz="2550" b="1" dirty="0">
                <a:solidFill>
                  <a:srgbClr val="E66A1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あま〜く</a:t>
            </a:r>
            <a:pPr algn="ctr" indent="0" marL="0">
              <a:buNone/>
            </a:pPr>
            <a:r>
              <a:rPr lang="en-US" sz="2550" b="1" dirty="0">
                <a:solidFill>
                  <a:srgbClr val="5C321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 熟れてます♪</a:t>
            </a:r>
            <a:endParaRPr lang="en-US" sz="2550" dirty="0"/>
          </a:p>
        </p:txBody>
      </p:sp>
      <p:sp>
        <p:nvSpPr>
          <p:cNvPr id="16" name="Text 10"/>
          <p:cNvSpPr txBox="1"/>
          <p:nvPr/>
        </p:nvSpPr>
        <p:spPr>
          <a:xfrm>
            <a:off x="1538935" y="1466698"/>
            <a:ext cx="2638958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375" kern="0" dirty="0">
                <a:solidFill>
                  <a:srgbClr val="FFF7D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AUTUMN STORY 01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587B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7707" y="3810305"/>
            <a:ext cx="5181905" cy="2895905"/>
          </a:xfrm>
          <a:prstGeom prst="roundRect">
            <a:avLst>
              <a:gd name="adj" fmla="val 9220"/>
            </a:avLst>
          </a:prstGeom>
          <a:solidFill>
            <a:srgbClr val="FFFBEC"/>
          </a:solidFill>
          <a:ln w="25400">
            <a:solidFill>
              <a:srgbClr val="E5D2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72707" y="3810305"/>
            <a:ext cx="5181905" cy="2895905"/>
          </a:xfrm>
          <a:prstGeom prst="roundRect">
            <a:avLst>
              <a:gd name="adj" fmla="val 9220"/>
            </a:avLst>
          </a:prstGeom>
          <a:solidFill>
            <a:srgbClr val="FFFBEC"/>
          </a:solidFill>
          <a:ln w="25400">
            <a:solidFill>
              <a:srgbClr val="E5D2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87707" y="3810305"/>
            <a:ext cx="5181905" cy="2895905"/>
          </a:xfrm>
          <a:prstGeom prst="roundRect">
            <a:avLst>
              <a:gd name="adj" fmla="val 9220"/>
            </a:avLst>
          </a:prstGeom>
          <a:solidFill>
            <a:srgbClr val="FFFBEC"/>
          </a:solidFill>
          <a:ln w="25400">
            <a:solidFill>
              <a:srgbClr val="E5D2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7707" y="6858000"/>
            <a:ext cx="16573500" cy="2476195"/>
          </a:xfrm>
          <a:prstGeom prst="roundRect">
            <a:avLst>
              <a:gd name="adj" fmla="val 10783"/>
            </a:avLst>
          </a:prstGeom>
          <a:solidFill>
            <a:srgbClr val="FFE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gen-dedup-6f9588f92b55658f1c2c07b6f38a2101.png">    </p:cNvPr>
          <p:cNvPicPr>
            <a:picLocks noChangeAspect="1"/>
          </p:cNvPicPr>
          <p:nvPr/>
        </p:nvPicPr>
        <p:blipFill>
          <a:blip r:embed="rId1"/>
          <a:srcRect l="0" r="0" t="-25" b="-25"/>
          <a:stretch/>
        </p:blipFill>
        <p:spPr>
          <a:xfrm>
            <a:off x="857707" y="3810305"/>
            <a:ext cx="5143500" cy="609905"/>
          </a:xfrm>
          <a:prstGeom prst="rect">
            <a:avLst/>
          </a:prstGeom>
        </p:spPr>
      </p:pic>
      <p:pic>
        <p:nvPicPr>
          <p:cNvPr id="8" name="Image 1" descr="gen-dedup-2dd0ce7f249eaccec8bbbb497b77dbc4.png">    </p:cNvPr>
          <p:cNvPicPr>
            <a:picLocks noChangeAspect="1"/>
          </p:cNvPicPr>
          <p:nvPr/>
        </p:nvPicPr>
        <p:blipFill>
          <a:blip r:embed="rId2"/>
          <a:srcRect l="0" r="0" t="-25" b="-25"/>
          <a:stretch/>
        </p:blipFill>
        <p:spPr>
          <a:xfrm>
            <a:off x="6572707" y="3810305"/>
            <a:ext cx="5143500" cy="609905"/>
          </a:xfrm>
          <a:prstGeom prst="rect">
            <a:avLst/>
          </a:prstGeom>
        </p:spPr>
      </p:pic>
      <p:pic>
        <p:nvPicPr>
          <p:cNvPr id="9" name="Image 2" descr="gen-dedup-9b6f10d81ad5e08ee1dba1b740e205c2.png">    </p:cNvPr>
          <p:cNvPicPr>
            <a:picLocks noChangeAspect="1"/>
          </p:cNvPicPr>
          <p:nvPr/>
        </p:nvPicPr>
        <p:blipFill>
          <a:blip r:embed="rId3"/>
          <a:srcRect l="0" r="0" t="-25" b="-25"/>
          <a:stretch/>
        </p:blipFill>
        <p:spPr>
          <a:xfrm>
            <a:off x="12287707" y="3810305"/>
            <a:ext cx="5143500" cy="609905"/>
          </a:xfrm>
          <a:prstGeom prst="rect">
            <a:avLst/>
          </a:prstGeom>
        </p:spPr>
      </p:pic>
      <p:pic>
        <p:nvPicPr>
          <p:cNvPr id="10" name="Image 3" descr="gen-dedup-2c589f0bfca3b1ad7cbf4453f7b68a9f.png">    </p:cNvPr>
          <p:cNvPicPr>
            <a:picLocks noChangeAspect="1"/>
          </p:cNvPicPr>
          <p:nvPr/>
        </p:nvPicPr>
        <p:blipFill>
          <a:blip r:embed="rId4"/>
          <a:srcRect l="0" r="0" t="-398" b="-398"/>
          <a:stretch/>
        </p:blipFill>
        <p:spPr>
          <a:xfrm>
            <a:off x="7429500" y="8458200"/>
            <a:ext cx="9525305" cy="57607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7429500" y="8324698"/>
            <a:ext cx="437998" cy="437998"/>
          </a:xfrm>
          <a:prstGeom prst="ellipse">
            <a:avLst/>
          </a:prstGeom>
          <a:solidFill>
            <a:srgbClr val="FFFBEC"/>
          </a:solidFill>
          <a:ln w="76200">
            <a:solidFill>
              <a:srgbClr val="E66A1F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10573207" y="8324698"/>
            <a:ext cx="437998" cy="437998"/>
          </a:xfrm>
          <a:prstGeom prst="ellipse">
            <a:avLst/>
          </a:prstGeom>
          <a:solidFill>
            <a:srgbClr val="FFFBEC"/>
          </a:solidFill>
          <a:ln w="76200">
            <a:solidFill>
              <a:srgbClr val="E66A1F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13716000" y="8324698"/>
            <a:ext cx="437998" cy="437998"/>
          </a:xfrm>
          <a:prstGeom prst="ellipse">
            <a:avLst/>
          </a:prstGeom>
          <a:solidFill>
            <a:srgbClr val="FFFBEC"/>
          </a:solidFill>
          <a:ln w="76200">
            <a:solidFill>
              <a:srgbClr val="E66A1F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16631107" y="8324698"/>
            <a:ext cx="437998" cy="437998"/>
          </a:xfrm>
          <a:prstGeom prst="ellipse">
            <a:avLst/>
          </a:prstGeom>
          <a:solidFill>
            <a:srgbClr val="FFFBEC"/>
          </a:solidFill>
          <a:ln w="76200">
            <a:solidFill>
              <a:srgbClr val="587B2E"/>
            </a:solidFill>
            <a:prstDash val="solid"/>
          </a:ln>
        </p:spPr>
      </p:sp>
      <p:pic>
        <p:nvPicPr>
          <p:cNvPr id="15" name="Image 4" descr="かき丸の小さなアイコン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6668598" y="1143000"/>
            <a:ext cx="1143000" cy="114300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57707" y="952805"/>
            <a:ext cx="2133295" cy="476402"/>
          </a:xfrm>
          <a:prstGeom prst="roundRect">
            <a:avLst>
              <a:gd name="adj" fmla="val 46065"/>
            </a:avLst>
          </a:prstGeom>
          <a:noFill/>
          <a:ln w="25400">
            <a:solidFill>
              <a:srgbClr val="5C3218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857707" y="1619402"/>
            <a:ext cx="1047811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5C321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柿、ってどんな</a:t>
            </a:r>
            <a:pPr algn="l" indent="0" marL="0">
              <a:buNone/>
            </a:pPr>
            <a:r>
              <a:rPr lang="en-US" sz="6600" b="1" dirty="0">
                <a:solidFill>
                  <a:srgbClr val="E66A1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果樹</a:t>
            </a:r>
            <a:pPr algn="l" indent="0" marL="0">
              <a:buNone/>
            </a:pPr>
            <a:r>
              <a:rPr lang="en-US" sz="6600" b="1" dirty="0">
                <a:solidFill>
                  <a:srgbClr val="5C321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？</a:t>
            </a:r>
            <a:endParaRPr lang="en-US" sz="6600" dirty="0"/>
          </a:p>
        </p:txBody>
      </p:sp>
      <p:sp>
        <p:nvSpPr>
          <p:cNvPr id="18" name="Text 11"/>
          <p:cNvSpPr txBox="1"/>
          <p:nvPr/>
        </p:nvSpPr>
        <p:spPr>
          <a:xfrm>
            <a:off x="875995" y="2857500"/>
            <a:ext cx="114300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7A553A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古来より東アジアに息づき、秋の食卓を彩ってきた果樹のはなし。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1143000" y="4518965"/>
            <a:ext cx="4572000" cy="132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18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・中国・長江(揚子江)流域が有力な原産地</a:t>
            </a:r>
            <a:pPr algn="l" indent="0" marL="0">
              <a:lnSpc>
                <a:spcPts val="3300"/>
              </a:lnSpc>
              <a:buNone/>
            </a:pPr>
            <a:endParaRPr lang="en-US" sz="18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18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・日本へは縄文〜弥生時代に伝来</a:t>
            </a:r>
            <a:pPr algn="l" indent="0" marL="0">
              <a:lnSpc>
                <a:spcPts val="3300"/>
              </a:lnSpc>
              <a:buNone/>
            </a:pPr>
            <a:endParaRPr lang="en-US" sz="18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18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・奈良時代には商品として流通していた</a:t>
            </a:r>
            <a:endParaRPr lang="en-US" sz="1800" dirty="0"/>
          </a:p>
        </p:txBody>
      </p:sp>
      <p:sp>
        <p:nvSpPr>
          <p:cNvPr id="20" name="Text 13"/>
          <p:cNvSpPr txBox="1"/>
          <p:nvPr/>
        </p:nvSpPr>
        <p:spPr>
          <a:xfrm>
            <a:off x="6858000" y="4518965"/>
            <a:ext cx="4572000" cy="132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18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</a:t>
            </a:r>
            <a:pPr algn="l" indent="0" marL="0">
              <a:lnSpc>
                <a:spcPts val="3300"/>
              </a:lnSpc>
              <a:buNone/>
            </a:pPr>
            <a:r>
              <a:rPr lang="en-US" sz="1800" b="1" dirty="0">
                <a:solidFill>
                  <a:srgbClr val="E66A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和歌山県</a:t>
            </a:r>
            <a:pPr algn="l" indent="0" marL="0">
              <a:lnSpc>
                <a:spcPts val="3300"/>
              </a:lnSpc>
              <a:buNone/>
            </a:pPr>
            <a:r>
              <a:rPr lang="en-US" sz="18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45年連続で全国1位</a:t>
            </a:r>
            <a:pPr algn="l" indent="0" marL="0">
              <a:lnSpc>
                <a:spcPts val="3300"/>
              </a:lnSpc>
              <a:buNone/>
            </a:pPr>
            <a:endParaRPr lang="en-US" sz="18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18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・奈良県・福岡県・岐阜県が上位</a:t>
            </a:r>
            <a:pPr algn="l" indent="0" marL="0">
              <a:lnSpc>
                <a:spcPts val="3300"/>
              </a:lnSpc>
              <a:buNone/>
            </a:pPr>
            <a:endParaRPr lang="en-US" sz="18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18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・全国収穫量 約16万7千トン(2024年産)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12573000" y="4518965"/>
            <a:ext cx="4572000" cy="132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18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</a:t>
            </a:r>
            <a:pPr algn="l" indent="0" marL="0">
              <a:lnSpc>
                <a:spcPts val="3300"/>
              </a:lnSpc>
              <a:buNone/>
            </a:pPr>
            <a:r>
              <a:rPr lang="en-US" sz="1800" b="1" dirty="0">
                <a:solidFill>
                  <a:srgbClr val="E66A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中国</a:t>
            </a:r>
            <a:pPr algn="l" indent="0" marL="0">
              <a:lnSpc>
                <a:spcPts val="3300"/>
              </a:lnSpc>
              <a:buNone/>
            </a:pPr>
            <a:r>
              <a:rPr lang="en-US" sz="18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約393万トン(世界1位)</a:t>
            </a:r>
            <a:pPr algn="l" indent="0" marL="0">
              <a:lnSpc>
                <a:spcPts val="3300"/>
              </a:lnSpc>
              <a:buNone/>
            </a:pPr>
            <a:endParaRPr lang="en-US" sz="18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18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・韓国・アゼルバイジャンが続く</a:t>
            </a:r>
            <a:pPr algn="l" indent="0" marL="0">
              <a:lnSpc>
                <a:spcPts val="3300"/>
              </a:lnSpc>
              <a:buNone/>
            </a:pPr>
            <a:endParaRPr lang="en-US" sz="18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18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・日本は約16.7万トンで5位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1238098" y="7048195"/>
            <a:ext cx="571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C321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収穫期は9月〜12月</a:t>
            </a:r>
            <a:endParaRPr lang="en-US" sz="2700" dirty="0"/>
          </a:p>
        </p:txBody>
      </p:sp>
      <p:sp>
        <p:nvSpPr>
          <p:cNvPr id="23" name="Text 16"/>
          <p:cNvSpPr txBox="1"/>
          <p:nvPr/>
        </p:nvSpPr>
        <p:spPr>
          <a:xfrm>
            <a:off x="1238098" y="7715707"/>
            <a:ext cx="57150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7A553A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早生は9月、主力は10〜11月、晩生は12月まで。</a:t>
            </a:r>
            <a:endParaRPr lang="en-US" sz="1650" dirty="0"/>
          </a:p>
        </p:txBody>
      </p:sp>
      <p:sp>
        <p:nvSpPr>
          <p:cNvPr id="24" name="Text 17"/>
          <p:cNvSpPr txBox="1"/>
          <p:nvPr/>
        </p:nvSpPr>
        <p:spPr>
          <a:xfrm>
            <a:off x="7048195" y="8762695"/>
            <a:ext cx="1143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6A1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9月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858000" y="9087307"/>
            <a:ext cx="1524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早生・刀根早生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10191902" y="8762695"/>
            <a:ext cx="1143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6A1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10月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10001707" y="9087307"/>
            <a:ext cx="1524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次郎・平核無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13334695" y="8762695"/>
            <a:ext cx="1143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6A1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11月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13144500" y="9087307"/>
            <a:ext cx="1524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富有・次郎 盛期</a:t>
            </a:r>
            <a:endParaRPr lang="en-US" sz="1350" dirty="0"/>
          </a:p>
        </p:txBody>
      </p:sp>
      <p:sp>
        <p:nvSpPr>
          <p:cNvPr id="30" name="Text 23"/>
          <p:cNvSpPr txBox="1"/>
          <p:nvPr/>
        </p:nvSpPr>
        <p:spPr>
          <a:xfrm>
            <a:off x="16249802" y="8762695"/>
            <a:ext cx="1143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7B2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12月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16059607" y="9087307"/>
            <a:ext cx="1524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富有・あんぽ柿</a:t>
            </a:r>
            <a:endParaRPr lang="en-US" sz="1350" dirty="0"/>
          </a:p>
        </p:txBody>
      </p:sp>
      <p:sp>
        <p:nvSpPr>
          <p:cNvPr id="32" name="Text 25"/>
          <p:cNvSpPr txBox="1"/>
          <p:nvPr/>
        </p:nvSpPr>
        <p:spPr>
          <a:xfrm>
            <a:off x="857707" y="9620402"/>
            <a:ext cx="8572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55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出典: 農水省 令和5〜6年産統計 / FAO 2024 / 瑞穂市公式資料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16192195" y="9620402"/>
            <a:ext cx="1905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b="1" spc="225" kern="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 / 05</a:t>
            </a:r>
            <a:endParaRPr lang="en-US" sz="1650" dirty="0"/>
          </a:p>
        </p:txBody>
      </p:sp>
      <p:sp>
        <p:nvSpPr>
          <p:cNvPr id="34" name="Text 27"/>
          <p:cNvSpPr txBox="1"/>
          <p:nvPr/>
        </p:nvSpPr>
        <p:spPr>
          <a:xfrm>
            <a:off x="1177747" y="1033272"/>
            <a:ext cx="158282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 PROFILE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2462479" y="3810305"/>
            <a:ext cx="19431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F7DD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原産地とルーツ</a:t>
            </a:r>
            <a:endParaRPr lang="en-US" sz="1950" dirty="0"/>
          </a:p>
        </p:txBody>
      </p:sp>
      <p:sp>
        <p:nvSpPr>
          <p:cNvPr id="36" name="Text 29"/>
          <p:cNvSpPr txBox="1"/>
          <p:nvPr/>
        </p:nvSpPr>
        <p:spPr>
          <a:xfrm>
            <a:off x="8177479" y="3810305"/>
            <a:ext cx="19431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FBE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日本の主な産地</a:t>
            </a:r>
            <a:endParaRPr lang="en-US" sz="1950" dirty="0"/>
          </a:p>
        </p:txBody>
      </p:sp>
      <p:sp>
        <p:nvSpPr>
          <p:cNvPr id="37" name="Text 30"/>
          <p:cNvSpPr txBox="1"/>
          <p:nvPr/>
        </p:nvSpPr>
        <p:spPr>
          <a:xfrm>
            <a:off x="14168628" y="3810305"/>
            <a:ext cx="1390802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F7DD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世界の産地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3619195"/>
            <a:ext cx="3752698" cy="3657600"/>
          </a:xfrm>
          <a:prstGeom prst="roundRect">
            <a:avLst>
              <a:gd name="adj" fmla="val 8325"/>
            </a:avLst>
          </a:prstGeom>
          <a:solidFill>
            <a:srgbClr val="FFFBEC"/>
          </a:solidFill>
          <a:ln w="25400">
            <a:solidFill>
              <a:srgbClr val="E5D2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38598" y="3619195"/>
            <a:ext cx="3752698" cy="3657600"/>
          </a:xfrm>
          <a:prstGeom prst="roundRect">
            <a:avLst>
              <a:gd name="adj" fmla="val 8325"/>
            </a:avLst>
          </a:prstGeom>
          <a:solidFill>
            <a:srgbClr val="FFFBEC"/>
          </a:solidFill>
          <a:ln w="25400">
            <a:solidFill>
              <a:srgbClr val="E5D2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3619195"/>
            <a:ext cx="3752698" cy="3657600"/>
          </a:xfrm>
          <a:prstGeom prst="roundRect">
            <a:avLst>
              <a:gd name="adj" fmla="val 8325"/>
            </a:avLst>
          </a:prstGeom>
          <a:solidFill>
            <a:srgbClr val="FFFBEC"/>
          </a:solidFill>
          <a:ln w="25400">
            <a:solidFill>
              <a:srgbClr val="E5D2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430707" y="3619195"/>
            <a:ext cx="3752698" cy="3657600"/>
          </a:xfrm>
          <a:prstGeom prst="roundRect">
            <a:avLst>
              <a:gd name="adj" fmla="val 8325"/>
            </a:avLst>
          </a:prstGeom>
          <a:solidFill>
            <a:srgbClr val="FFFBEC"/>
          </a:solidFill>
          <a:ln w="25400">
            <a:solidFill>
              <a:srgbClr val="E5D2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7619695"/>
            <a:ext cx="10287000" cy="1524305"/>
          </a:xfrm>
          <a:prstGeom prst="roundRect">
            <a:avLst>
              <a:gd name="adj" fmla="val 17516"/>
            </a:avLst>
          </a:prstGeom>
          <a:solidFill>
            <a:srgbClr val="5C32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11305" y="7619695"/>
            <a:ext cx="5372100" cy="1561795"/>
          </a:xfrm>
          <a:prstGeom prst="roundRect">
            <a:avLst>
              <a:gd name="adj" fmla="val 17096"/>
            </a:avLst>
          </a:prstGeom>
          <a:solidFill>
            <a:srgbClr val="FFE9C9"/>
          </a:solidFill>
          <a:ln w="25400">
            <a:solidFill>
              <a:srgbClr val="E5D2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33195" y="3810305"/>
            <a:ext cx="571500" cy="571500"/>
          </a:xfrm>
          <a:prstGeom prst="ellipse">
            <a:avLst/>
          </a:prstGeom>
          <a:solidFill>
            <a:srgbClr val="E66A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29707" y="3810305"/>
            <a:ext cx="571500" cy="571500"/>
          </a:xfrm>
          <a:prstGeom prst="ellipse">
            <a:avLst/>
          </a:prstGeom>
          <a:solidFill>
            <a:srgbClr val="587B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5305" y="3810305"/>
            <a:ext cx="571500" cy="571500"/>
          </a:xfrm>
          <a:prstGeom prst="ellipse">
            <a:avLst/>
          </a:prstGeom>
          <a:solidFill>
            <a:srgbClr val="A14E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620902" y="3810305"/>
            <a:ext cx="571500" cy="571500"/>
          </a:xfrm>
          <a:prstGeom prst="ellipse">
            <a:avLst/>
          </a:prstGeom>
          <a:solidFill>
            <a:srgbClr val="F285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7707" y="761695"/>
            <a:ext cx="2229307" cy="476402"/>
          </a:xfrm>
          <a:prstGeom prst="roundRect">
            <a:avLst>
              <a:gd name="adj" fmla="val 46065"/>
            </a:avLst>
          </a:prstGeom>
          <a:noFill/>
          <a:ln w="25400">
            <a:solidFill>
              <a:srgbClr val="5C32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7707" y="1429207"/>
            <a:ext cx="12382805" cy="123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900" b="1" dirty="0">
                <a:solidFill>
                  <a:srgbClr val="5C321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柿の、</a:t>
            </a:r>
            <a:pPr algn="l" indent="0" marL="0">
              <a:buNone/>
            </a:pPr>
            <a:r>
              <a:rPr lang="en-US" sz="6900" b="1" dirty="0">
                <a:solidFill>
                  <a:srgbClr val="E66A1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ひみつの力</a:t>
            </a:r>
            <a:endParaRPr lang="en-US" sz="6900" dirty="0"/>
          </a:p>
        </p:txBody>
      </p:sp>
      <p:sp>
        <p:nvSpPr>
          <p:cNvPr id="14" name="Text 12"/>
          <p:cNvSpPr txBox="1"/>
          <p:nvPr/>
        </p:nvSpPr>
        <p:spPr>
          <a:xfrm>
            <a:off x="875995" y="2895905"/>
            <a:ext cx="114300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7A553A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甘柿100gあたりに含まれる主な成分と、注目されている力。</a:t>
            </a:r>
            <a:endParaRPr lang="en-US" sz="1950" dirty="0"/>
          </a:p>
        </p:txBody>
      </p:sp>
      <p:sp>
        <p:nvSpPr>
          <p:cNvPr id="15" name="Text 13"/>
          <p:cNvSpPr txBox="1"/>
          <p:nvPr/>
        </p:nvSpPr>
        <p:spPr>
          <a:xfrm>
            <a:off x="1429207" y="4572000"/>
            <a:ext cx="2122322" cy="12097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spc="-150" kern="0" dirty="0">
                <a:solidFill>
                  <a:srgbClr val="E66A1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70</a:t>
            </a:r>
            <a:pPr algn="l" indent="0" marL="0">
              <a:buNone/>
            </a:pPr>
            <a:r>
              <a:rPr lang="en-US" sz="3150" b="1" spc="-150" kern="0" dirty="0">
                <a:solidFill>
                  <a:srgbClr val="5C321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mg</a:t>
            </a:r>
            <a:endParaRPr lang="en-US" sz="7200" dirty="0"/>
          </a:p>
        </p:txBody>
      </p:sp>
      <p:sp>
        <p:nvSpPr>
          <p:cNvPr id="16" name="Text 14"/>
          <p:cNvSpPr txBox="1"/>
          <p:nvPr/>
        </p:nvSpPr>
        <p:spPr>
          <a:xfrm>
            <a:off x="1429207" y="5934456"/>
            <a:ext cx="1343254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5C321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ビタミンC</a:t>
            </a:r>
            <a:endParaRPr lang="en-US" sz="2250" dirty="0"/>
          </a:p>
        </p:txBody>
      </p:sp>
      <p:sp>
        <p:nvSpPr>
          <p:cNvPr id="17" name="Text 15"/>
          <p:cNvSpPr txBox="1"/>
          <p:nvPr/>
        </p:nvSpPr>
        <p:spPr>
          <a:xfrm>
            <a:off x="1429207" y="6381598"/>
            <a:ext cx="2153412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果物中3位レベル。</a:t>
            </a:r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いちご(62mg)より豊富。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524805" y="4572000"/>
            <a:ext cx="2664562" cy="12097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spc="-150" kern="0" dirty="0">
                <a:solidFill>
                  <a:srgbClr val="587B2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500</a:t>
            </a:r>
            <a:pPr algn="l" indent="0" marL="0">
              <a:buNone/>
            </a:pPr>
            <a:r>
              <a:rPr lang="en-US" sz="3150" b="1" spc="-150" kern="0" dirty="0">
                <a:solidFill>
                  <a:srgbClr val="5C321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μg</a:t>
            </a:r>
            <a:endParaRPr lang="en-US" sz="7200" dirty="0"/>
          </a:p>
        </p:txBody>
      </p:sp>
      <p:sp>
        <p:nvSpPr>
          <p:cNvPr id="19" name="Text 17"/>
          <p:cNvSpPr txBox="1"/>
          <p:nvPr/>
        </p:nvSpPr>
        <p:spPr>
          <a:xfrm>
            <a:off x="5524805" y="5934456"/>
            <a:ext cx="2734056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5C321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βクリプトキサンチン</a:t>
            </a:r>
            <a:endParaRPr lang="en-US" sz="2250" dirty="0"/>
          </a:p>
        </p:txBody>
      </p:sp>
      <p:sp>
        <p:nvSpPr>
          <p:cNvPr id="20" name="Text 18"/>
          <p:cNvSpPr txBox="1"/>
          <p:nvPr/>
        </p:nvSpPr>
        <p:spPr>
          <a:xfrm>
            <a:off x="5524805" y="6381598"/>
            <a:ext cx="1905610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抗酸化作用で知られる</a:t>
            </a:r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カロテノイド系色素。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620402" y="4572000"/>
            <a:ext cx="1926641" cy="12097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spc="-150" kern="0" dirty="0">
                <a:solidFill>
                  <a:srgbClr val="A14E1A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1.6</a:t>
            </a:r>
            <a:pPr algn="l" indent="0" marL="0">
              <a:buNone/>
            </a:pPr>
            <a:r>
              <a:rPr lang="en-US" sz="3150" b="1" spc="-150" kern="0" dirty="0">
                <a:solidFill>
                  <a:srgbClr val="5C321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g</a:t>
            </a:r>
            <a:endParaRPr lang="en-US" sz="7200" dirty="0"/>
          </a:p>
        </p:txBody>
      </p:sp>
      <p:sp>
        <p:nvSpPr>
          <p:cNvPr id="22" name="Text 20"/>
          <p:cNvSpPr txBox="1"/>
          <p:nvPr/>
        </p:nvSpPr>
        <p:spPr>
          <a:xfrm>
            <a:off x="9620402" y="5934456"/>
            <a:ext cx="1143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5C321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食物繊維</a:t>
            </a:r>
            <a:endParaRPr lang="en-US" sz="2250" dirty="0"/>
          </a:p>
        </p:txBody>
      </p:sp>
      <p:sp>
        <p:nvSpPr>
          <p:cNvPr id="23" name="Text 21"/>
          <p:cNvSpPr txBox="1"/>
          <p:nvPr/>
        </p:nvSpPr>
        <p:spPr>
          <a:xfrm>
            <a:off x="9620402" y="6381598"/>
            <a:ext cx="1905610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可食部100gあたり。</a:t>
            </a:r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お腹の調子を整える。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0" y="4572000"/>
            <a:ext cx="2634386" cy="12097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spc="-150" kern="0" dirty="0">
                <a:solidFill>
                  <a:srgbClr val="F28522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170</a:t>
            </a:r>
            <a:pPr algn="l" indent="0" marL="0">
              <a:buNone/>
            </a:pPr>
            <a:r>
              <a:rPr lang="en-US" sz="3150" b="1" spc="-150" kern="0" dirty="0">
                <a:solidFill>
                  <a:srgbClr val="5C321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mg</a:t>
            </a:r>
            <a:endParaRPr lang="en-US" sz="72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0" y="5934456"/>
            <a:ext cx="1143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5C321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カリウム</a:t>
            </a:r>
            <a:endParaRPr lang="en-US" sz="225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0" y="6381598"/>
            <a:ext cx="1791310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1/2個(100g)あたり。</a:t>
            </a:r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余分な塩分を排出。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524305" y="7715707"/>
            <a:ext cx="228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C069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柿渋タンニン</a:t>
            </a:r>
            <a:endParaRPr lang="en-US" sz="2250" dirty="0"/>
          </a:p>
        </p:txBody>
      </p:sp>
      <p:sp>
        <p:nvSpPr>
          <p:cNvPr id="28" name="Text 26"/>
          <p:cNvSpPr txBox="1"/>
          <p:nvPr/>
        </p:nvSpPr>
        <p:spPr>
          <a:xfrm>
            <a:off x="1524305" y="8286293"/>
            <a:ext cx="990661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FFFB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渋柿の果汁を発酵させた天然塗料。古来より防腐・防水・抗菌に用いられ、</a:t>
            </a:r>
            <a:pPr algn="l" indent="0" marL="0">
              <a:lnSpc>
                <a:spcPts val="2700"/>
              </a:lnSpc>
              <a:buNone/>
            </a:pP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FFFB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法隆寺・薬師寺など寺社の建材保護にも役立った。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2191695" y="7715707"/>
            <a:ext cx="228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66A1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干し柿は</a:t>
            </a:r>
            <a:endParaRPr lang="en-US" sz="2250" dirty="0"/>
          </a:p>
        </p:txBody>
      </p:sp>
      <p:sp>
        <p:nvSpPr>
          <p:cNvPr id="30" name="Text 28"/>
          <p:cNvSpPr txBox="1"/>
          <p:nvPr/>
        </p:nvSpPr>
        <p:spPr>
          <a:xfrm>
            <a:off x="12191695" y="8286293"/>
            <a:ext cx="457200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生柿よりカリウム・食物繊維・</a:t>
            </a:r>
            <a:pPr algn="l" indent="0" marL="0">
              <a:lnSpc>
                <a:spcPts val="2700"/>
              </a:lnSpc>
              <a:buNone/>
            </a:pP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β-カロテンが一段と増します。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" y="9620402"/>
            <a:ext cx="104781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55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出典: 日本食品標準成分表 / 三ヶ日町研究 (農研機構ほか) / トマト果樹研究所など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6192195" y="9620402"/>
            <a:ext cx="1905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b="1" spc="225" kern="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 / 05</a:t>
            </a:r>
            <a:endParaRPr lang="en-US" sz="1650" dirty="0"/>
          </a:p>
        </p:txBody>
      </p:sp>
      <p:sp>
        <p:nvSpPr>
          <p:cNvPr id="33" name="Text 31"/>
          <p:cNvSpPr txBox="1"/>
          <p:nvPr/>
        </p:nvSpPr>
        <p:spPr>
          <a:xfrm>
            <a:off x="1056132" y="843077"/>
            <a:ext cx="190926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 NUTRITION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1523390" y="3952951"/>
            <a:ext cx="200254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BE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C</a:t>
            </a:r>
            <a:endParaRPr lang="en-US" sz="2250" dirty="0"/>
          </a:p>
        </p:txBody>
      </p:sp>
      <p:sp>
        <p:nvSpPr>
          <p:cNvPr id="35" name="Text 33"/>
          <p:cNvSpPr txBox="1"/>
          <p:nvPr/>
        </p:nvSpPr>
        <p:spPr>
          <a:xfrm>
            <a:off x="5655564" y="3991356"/>
            <a:ext cx="13533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BE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β</a:t>
            </a:r>
            <a:endParaRPr lang="en-US" sz="1650" dirty="0"/>
          </a:p>
        </p:txBody>
      </p:sp>
      <p:sp>
        <p:nvSpPr>
          <p:cNvPr id="36" name="Text 34"/>
          <p:cNvSpPr txBox="1"/>
          <p:nvPr/>
        </p:nvSpPr>
        <p:spPr>
          <a:xfrm>
            <a:off x="9705442" y="3991356"/>
            <a:ext cx="219456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BE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食</a:t>
            </a:r>
            <a:endParaRPr lang="en-US" sz="1650" dirty="0"/>
          </a:p>
        </p:txBody>
      </p:sp>
      <p:sp>
        <p:nvSpPr>
          <p:cNvPr id="37" name="Text 35"/>
          <p:cNvSpPr txBox="1"/>
          <p:nvPr/>
        </p:nvSpPr>
        <p:spPr>
          <a:xfrm>
            <a:off x="13819327" y="3952951"/>
            <a:ext cx="181051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BE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K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17007" y="0"/>
            <a:ext cx="171907" cy="10287000"/>
          </a:xfrm>
          <a:prstGeom prst="rect">
            <a:avLst/>
          </a:prstGeom>
          <a:solidFill>
            <a:srgbClr val="587B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33195" y="3810305"/>
            <a:ext cx="4990795" cy="3276295"/>
          </a:xfrm>
          <a:prstGeom prst="roundRect">
            <a:avLst>
              <a:gd name="adj" fmla="val 9294"/>
            </a:avLst>
          </a:prstGeom>
          <a:solidFill>
            <a:srgbClr val="FFFBEC"/>
          </a:solidFill>
          <a:ln w="25400">
            <a:solidFill>
              <a:srgbClr val="E5D2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67805" y="3810305"/>
            <a:ext cx="4990795" cy="3276295"/>
          </a:xfrm>
          <a:prstGeom prst="roundRect">
            <a:avLst>
              <a:gd name="adj" fmla="val 9294"/>
            </a:avLst>
          </a:prstGeom>
          <a:solidFill>
            <a:srgbClr val="FFFBEC"/>
          </a:solidFill>
          <a:ln w="25400">
            <a:solidFill>
              <a:srgbClr val="E5D2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1500" y="3810305"/>
            <a:ext cx="4990795" cy="3276295"/>
          </a:xfrm>
          <a:prstGeom prst="roundRect">
            <a:avLst>
              <a:gd name="adj" fmla="val 9294"/>
            </a:avLst>
          </a:prstGeom>
          <a:solidFill>
            <a:srgbClr val="FFFBEC"/>
          </a:solidFill>
          <a:ln w="25400">
            <a:solidFill>
              <a:srgbClr val="E5D2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33195" y="7239305"/>
            <a:ext cx="5143500" cy="2095805"/>
          </a:xfrm>
          <a:prstGeom prst="roundRect">
            <a:avLst>
              <a:gd name="adj" fmla="val 12740"/>
            </a:avLst>
          </a:prstGeom>
          <a:solidFill>
            <a:srgbClr val="FFE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2902" y="7239305"/>
            <a:ext cx="4800600" cy="2133295"/>
          </a:xfrm>
          <a:prstGeom prst="roundRect">
            <a:avLst>
              <a:gd name="adj" fmla="val 12516"/>
            </a:avLst>
          </a:prstGeom>
          <a:solidFill>
            <a:srgbClr val="FFFBEC"/>
          </a:solidFill>
          <a:ln w="25400">
            <a:solidFill>
              <a:srgbClr val="E5D2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11305" y="7239305"/>
            <a:ext cx="5181905" cy="2133295"/>
          </a:xfrm>
          <a:prstGeom prst="roundRect">
            <a:avLst>
              <a:gd name="adj" fmla="val 12516"/>
            </a:avLst>
          </a:prstGeom>
          <a:solidFill>
            <a:srgbClr val="FFF7DD"/>
          </a:solidFill>
          <a:ln w="25400">
            <a:solidFill>
              <a:srgbClr val="E66A1F"/>
            </a:solidFill>
            <a:prstDash val="solid"/>
          </a:ln>
        </p:spPr>
      </p:sp>
      <p:pic>
        <p:nvPicPr>
          <p:cNvPr id="9" name="Image 0" descr="gen-dedup-002b307b12ddb8a7f795ed47ee2803a4.png">    </p:cNvPr>
          <p:cNvPicPr>
            <a:picLocks noChangeAspect="1"/>
          </p:cNvPicPr>
          <p:nvPr/>
        </p:nvPicPr>
        <p:blipFill>
          <a:blip r:embed="rId1"/>
          <a:srcRect l="0" r="0" t="-5" b="-5"/>
          <a:stretch/>
        </p:blipFill>
        <p:spPr>
          <a:xfrm>
            <a:off x="1333195" y="3810305"/>
            <a:ext cx="1143000" cy="3238805"/>
          </a:xfrm>
          <a:prstGeom prst="rect">
            <a:avLst/>
          </a:prstGeom>
        </p:spPr>
      </p:pic>
      <p:pic>
        <p:nvPicPr>
          <p:cNvPr id="10" name="Image 1" descr="gen-dedup-ff068b654189e8ff5c78d2d2cf792b64.png">    </p:cNvPr>
          <p:cNvPicPr>
            <a:picLocks noChangeAspect="1"/>
          </p:cNvPicPr>
          <p:nvPr/>
        </p:nvPicPr>
        <p:blipFill>
          <a:blip r:embed="rId2"/>
          <a:srcRect l="0" r="0" t="-5" b="-5"/>
          <a:stretch/>
        </p:blipFill>
        <p:spPr>
          <a:xfrm>
            <a:off x="6667805" y="3810305"/>
            <a:ext cx="1143000" cy="3238805"/>
          </a:xfrm>
          <a:prstGeom prst="rect">
            <a:avLst/>
          </a:prstGeom>
        </p:spPr>
      </p:pic>
      <p:pic>
        <p:nvPicPr>
          <p:cNvPr id="11" name="Image 2" descr="gen-dedup-ccdac800760183756f71a7808ce19f25.png">    </p:cNvPr>
          <p:cNvPicPr>
            <a:picLocks noChangeAspect="1"/>
          </p:cNvPicPr>
          <p:nvPr/>
        </p:nvPicPr>
        <p:blipFill>
          <a:blip r:embed="rId3"/>
          <a:srcRect l="0" r="0" t="-5" b="-5"/>
          <a:stretch/>
        </p:blipFill>
        <p:spPr>
          <a:xfrm>
            <a:off x="12001500" y="3810305"/>
            <a:ext cx="1143000" cy="323880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524305" y="4095598"/>
            <a:ext cx="761695" cy="761695"/>
          </a:xfrm>
          <a:prstGeom prst="ellipse">
            <a:avLst/>
          </a:prstGeom>
          <a:solidFill>
            <a:srgbClr val="FFEF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858000" y="4095598"/>
            <a:ext cx="761695" cy="761695"/>
          </a:xfrm>
          <a:prstGeom prst="ellipse">
            <a:avLst/>
          </a:prstGeom>
          <a:solidFill>
            <a:srgbClr val="FFC0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12191695" y="4095598"/>
            <a:ext cx="761695" cy="761695"/>
          </a:xfrm>
          <a:prstGeom prst="ellipse">
            <a:avLst/>
          </a:prstGeom>
          <a:solidFill>
            <a:srgbClr val="FFEF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695298" y="4990795"/>
            <a:ext cx="418795" cy="133502"/>
          </a:xfrm>
          <a:prstGeom prst="roundRect">
            <a:avLst>
              <a:gd name="adj" fmla="val 50000"/>
            </a:avLst>
          </a:prstGeom>
          <a:solidFill>
            <a:srgbClr val="587B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029907" y="4990795"/>
            <a:ext cx="418795" cy="133502"/>
          </a:xfrm>
          <a:prstGeom prst="roundRect">
            <a:avLst>
              <a:gd name="adj" fmla="val 50000"/>
            </a:avLst>
          </a:prstGeom>
          <a:solidFill>
            <a:srgbClr val="587B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2363602" y="4990795"/>
            <a:ext cx="418795" cy="133502"/>
          </a:xfrm>
          <a:prstGeom prst="roundRect">
            <a:avLst>
              <a:gd name="adj" fmla="val 50000"/>
            </a:avLst>
          </a:prstGeom>
          <a:solidFill>
            <a:srgbClr val="3F5A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3" descr="gen-dedup-ccce404952d553ed7f89cab220f6c23f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6573500" y="1238098"/>
            <a:ext cx="1333195" cy="1333195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57707" y="761695"/>
            <a:ext cx="2324405" cy="476402"/>
          </a:xfrm>
          <a:prstGeom prst="roundRect">
            <a:avLst>
              <a:gd name="adj" fmla="val 46065"/>
            </a:avLst>
          </a:prstGeom>
          <a:noFill/>
          <a:ln w="25400">
            <a:solidFill>
              <a:srgbClr val="5C3218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857707" y="1429207"/>
            <a:ext cx="14287500" cy="123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900" b="1" dirty="0">
                <a:solidFill>
                  <a:srgbClr val="5C321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品種の</a:t>
            </a:r>
            <a:pPr algn="l" indent="0" marL="0">
              <a:buNone/>
            </a:pPr>
            <a:r>
              <a:rPr lang="en-US" sz="6900" b="1" dirty="0">
                <a:solidFill>
                  <a:srgbClr val="E66A1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個性</a:t>
            </a:r>
            <a:pPr algn="l" indent="0" marL="0">
              <a:buNone/>
            </a:pPr>
            <a:r>
              <a:rPr lang="en-US" sz="6900" b="1" dirty="0">
                <a:solidFill>
                  <a:srgbClr val="5C321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と、</a:t>
            </a:r>
            <a:pPr algn="l" indent="0" marL="0">
              <a:buNone/>
            </a:pPr>
            <a:r>
              <a:rPr lang="en-US" sz="6900" b="1" dirty="0">
                <a:solidFill>
                  <a:srgbClr val="587B2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食べ方</a:t>
            </a:r>
            <a:pPr algn="l" indent="0" marL="0">
              <a:buNone/>
            </a:pPr>
            <a:r>
              <a:rPr lang="en-US" sz="6900" b="1" dirty="0">
                <a:solidFill>
                  <a:srgbClr val="5C321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。</a:t>
            </a:r>
            <a:endParaRPr lang="en-US" sz="6900" dirty="0"/>
          </a:p>
        </p:txBody>
      </p:sp>
      <p:sp>
        <p:nvSpPr>
          <p:cNvPr id="21" name="Text 15"/>
          <p:cNvSpPr txBox="1"/>
          <p:nvPr/>
        </p:nvSpPr>
        <p:spPr>
          <a:xfrm>
            <a:off x="875995" y="2895905"/>
            <a:ext cx="142875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7A553A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甘柿・渋柿、生食から加工まで。3つの代表品種と、選び方のヒント。</a:t>
            </a:r>
            <a:endParaRPr lang="en-US" sz="1950" dirty="0"/>
          </a:p>
        </p:txBody>
      </p:sp>
      <p:sp>
        <p:nvSpPr>
          <p:cNvPr id="22" name="Shape 16"/>
          <p:cNvSpPr/>
          <p:nvPr/>
        </p:nvSpPr>
        <p:spPr>
          <a:xfrm>
            <a:off x="2667305" y="4095598"/>
            <a:ext cx="761695" cy="381305"/>
          </a:xfrm>
          <a:prstGeom prst="roundRect">
            <a:avLst>
              <a:gd name="adj" fmla="val 15108"/>
            </a:avLst>
          </a:prstGeom>
          <a:solidFill>
            <a:srgbClr val="E66A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2667305" y="4095598"/>
            <a:ext cx="76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FBE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甘柿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2667305" y="4610405"/>
            <a:ext cx="1706270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5C321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富有柿</a:t>
            </a:r>
            <a:endParaRPr lang="en-US" sz="3450" dirty="0"/>
          </a:p>
        </p:txBody>
      </p:sp>
      <p:sp>
        <p:nvSpPr>
          <p:cNvPr id="25" name="Text 19"/>
          <p:cNvSpPr txBox="1"/>
          <p:nvPr/>
        </p:nvSpPr>
        <p:spPr>
          <a:xfrm>
            <a:off x="2667305" y="5277002"/>
            <a:ext cx="2095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14E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岐阜生まれの甘柿の王様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2667305" y="5661965"/>
            <a:ext cx="323880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25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10月下旬〜12月中旬。</a:t>
            </a:r>
            <a:pPr algn="l" indent="0" marL="0">
              <a:lnSpc>
                <a:spcPts val="2250"/>
              </a:lnSpc>
              <a:buNone/>
            </a:pPr>
            <a:endParaRPr lang="en-US" sz="1425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425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甘くなめらか。</a:t>
            </a:r>
            <a:pPr algn="l" indent="0" marL="0">
              <a:lnSpc>
                <a:spcPts val="2250"/>
              </a:lnSpc>
              <a:buNone/>
            </a:pPr>
            <a:endParaRPr lang="en-US" sz="1425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425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1898年に「富有」と命名。</a:t>
            </a:r>
            <a:endParaRPr lang="en-US" sz="1425" dirty="0"/>
          </a:p>
        </p:txBody>
      </p:sp>
      <p:sp>
        <p:nvSpPr>
          <p:cNvPr id="27" name="Shape 21"/>
          <p:cNvSpPr/>
          <p:nvPr/>
        </p:nvSpPr>
        <p:spPr>
          <a:xfrm>
            <a:off x="8001000" y="4095598"/>
            <a:ext cx="761695" cy="381305"/>
          </a:xfrm>
          <a:prstGeom prst="roundRect">
            <a:avLst>
              <a:gd name="adj" fmla="val 15108"/>
            </a:avLst>
          </a:prstGeom>
          <a:solidFill>
            <a:srgbClr val="A14E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8001000" y="4095598"/>
            <a:ext cx="76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FBE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甘柿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8001000" y="4610405"/>
            <a:ext cx="1706270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5C321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次郎柿</a:t>
            </a:r>
            <a:endParaRPr lang="en-US" sz="3450" dirty="0"/>
          </a:p>
        </p:txBody>
      </p:sp>
      <p:sp>
        <p:nvSpPr>
          <p:cNvPr id="30" name="Text 24"/>
          <p:cNvSpPr txBox="1"/>
          <p:nvPr/>
        </p:nvSpPr>
        <p:spPr>
          <a:xfrm>
            <a:off x="8001000" y="5277002"/>
            <a:ext cx="2095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14E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コリコリ歯ごたえの代表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8001000" y="5661965"/>
            <a:ext cx="323880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25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10月中旬〜12月初旬。</a:t>
            </a:r>
            <a:pPr algn="l" indent="0" marL="0">
              <a:lnSpc>
                <a:spcPts val="2250"/>
              </a:lnSpc>
              <a:buNone/>
            </a:pPr>
            <a:endParaRPr lang="en-US" sz="1425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425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硬めで果汁豊富。</a:t>
            </a:r>
            <a:pPr algn="l" indent="0" marL="0">
              <a:lnSpc>
                <a:spcPts val="2250"/>
              </a:lnSpc>
              <a:buNone/>
            </a:pPr>
            <a:endParaRPr lang="en-US" sz="1425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425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サラダ・天ぷらでも好まれる。</a:t>
            </a:r>
            <a:endParaRPr lang="en-US" sz="1425" dirty="0"/>
          </a:p>
        </p:txBody>
      </p:sp>
      <p:sp>
        <p:nvSpPr>
          <p:cNvPr id="32" name="Shape 26"/>
          <p:cNvSpPr/>
          <p:nvPr/>
        </p:nvSpPr>
        <p:spPr>
          <a:xfrm>
            <a:off x="13334695" y="4095598"/>
            <a:ext cx="761695" cy="381305"/>
          </a:xfrm>
          <a:prstGeom prst="roundRect">
            <a:avLst>
              <a:gd name="adj" fmla="val 15108"/>
            </a:avLst>
          </a:prstGeom>
          <a:solidFill>
            <a:srgbClr val="587B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13334695" y="4095598"/>
            <a:ext cx="76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FBE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渋柿</a:t>
            </a:r>
            <a:endParaRPr lang="en-US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13334695" y="4610405"/>
            <a:ext cx="1706270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5C321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平核無</a:t>
            </a:r>
            <a:endParaRPr lang="en-US" sz="3450" dirty="0"/>
          </a:p>
        </p:txBody>
      </p:sp>
      <p:sp>
        <p:nvSpPr>
          <p:cNvPr id="35" name="Text 29"/>
          <p:cNvSpPr txBox="1"/>
          <p:nvPr/>
        </p:nvSpPr>
        <p:spPr>
          <a:xfrm>
            <a:off x="13334695" y="5277002"/>
            <a:ext cx="1524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87B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種なしで加工向き</a:t>
            </a:r>
            <a:endParaRPr lang="en-US" sz="1500" dirty="0"/>
          </a:p>
        </p:txBody>
      </p:sp>
      <p:sp>
        <p:nvSpPr>
          <p:cNvPr id="36" name="Text 30"/>
          <p:cNvSpPr txBox="1"/>
          <p:nvPr/>
        </p:nvSpPr>
        <p:spPr>
          <a:xfrm>
            <a:off x="13334695" y="5661965"/>
            <a:ext cx="323880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25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10月中旬〜下旬。</a:t>
            </a:r>
            <a:pPr algn="l" indent="0" marL="0">
              <a:lnSpc>
                <a:spcPts val="2250"/>
              </a:lnSpc>
              <a:buNone/>
            </a:pPr>
            <a:endParaRPr lang="en-US" sz="1425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425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あんぽ柿・干し柿の主原料。</a:t>
            </a:r>
            <a:pPr algn="l" indent="0" marL="0">
              <a:lnSpc>
                <a:spcPts val="2250"/>
              </a:lnSpc>
              <a:buNone/>
            </a:pPr>
            <a:endParaRPr lang="en-US" sz="1425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425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刀根早生は早生の枝変わり。</a:t>
            </a:r>
            <a:endParaRPr lang="en-US" sz="1425" dirty="0"/>
          </a:p>
        </p:txBody>
      </p:sp>
      <p:sp>
        <p:nvSpPr>
          <p:cNvPr id="37" name="Text 31"/>
          <p:cNvSpPr txBox="1"/>
          <p:nvPr/>
        </p:nvSpPr>
        <p:spPr>
          <a:xfrm>
            <a:off x="1619402" y="7391095"/>
            <a:ext cx="45720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66A1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甘柿と渋柿の違い</a:t>
            </a:r>
            <a:endParaRPr lang="en-US" sz="2250" dirty="0"/>
          </a:p>
        </p:txBody>
      </p:sp>
      <p:sp>
        <p:nvSpPr>
          <p:cNvPr id="38" name="Text 32"/>
          <p:cNvSpPr txBox="1"/>
          <p:nvPr/>
        </p:nvSpPr>
        <p:spPr>
          <a:xfrm>
            <a:off x="1619402" y="7858354"/>
            <a:ext cx="4572000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渋みの元は水溶性タンニン。</a:t>
            </a:r>
            <a:pPr algn="l" indent="0" marL="0">
              <a:lnSpc>
                <a:spcPts val="2550"/>
              </a:lnSpc>
              <a:buNone/>
            </a:pP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甘柿は実の中で自然に脱渋され、</a:t>
            </a:r>
            <a:pPr algn="l" indent="0" marL="0">
              <a:lnSpc>
                <a:spcPts val="2550"/>
              </a:lnSpc>
              <a:buNone/>
            </a:pP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樹になったまま熟して甘くなる。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7048195" y="7391095"/>
            <a:ext cx="419161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5C321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加工の楽しみ</a:t>
            </a:r>
            <a:endParaRPr lang="en-US" sz="2250" dirty="0"/>
          </a:p>
        </p:txBody>
      </p:sp>
      <p:sp>
        <p:nvSpPr>
          <p:cNvPr id="40" name="Text 34"/>
          <p:cNvSpPr txBox="1"/>
          <p:nvPr/>
        </p:nvSpPr>
        <p:spPr>
          <a:xfrm>
            <a:off x="7048195" y="7858354"/>
            <a:ext cx="4191610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干し柿(ころ柿)・市田柿は長野の特産。</a:t>
            </a:r>
            <a:pPr algn="l" indent="0" marL="0">
              <a:lnSpc>
                <a:spcPts val="2550"/>
              </a:lnSpc>
              <a:buNone/>
            </a:pP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あんぽ柿は福島・伊達地域から大正期に。</a:t>
            </a:r>
            <a:pPr algn="l" indent="0" marL="0">
              <a:lnSpc>
                <a:spcPts val="2550"/>
              </a:lnSpc>
              <a:buNone/>
            </a:pP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長期保存向きの知恵として今も親しまれる。</a:t>
            </a:r>
            <a:endParaRPr lang="en-US" sz="1500" dirty="0"/>
          </a:p>
        </p:txBody>
      </p:sp>
      <p:sp>
        <p:nvSpPr>
          <p:cNvPr id="41" name="Text 35"/>
          <p:cNvSpPr txBox="1"/>
          <p:nvPr/>
        </p:nvSpPr>
        <p:spPr>
          <a:xfrm>
            <a:off x="12096598" y="7391095"/>
            <a:ext cx="45720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66A1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選び方のヒント</a:t>
            </a:r>
            <a:endParaRPr lang="en-US" sz="2250" dirty="0"/>
          </a:p>
        </p:txBody>
      </p:sp>
      <p:sp>
        <p:nvSpPr>
          <p:cNvPr id="42" name="Text 36"/>
          <p:cNvSpPr txBox="1"/>
          <p:nvPr/>
        </p:nvSpPr>
        <p:spPr>
          <a:xfrm>
            <a:off x="12096598" y="7858354"/>
            <a:ext cx="4572000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・全体につやがあり、色つや均一</a:t>
            </a:r>
            <a:pPr algn="l" indent="0" marL="0">
              <a:lnSpc>
                <a:spcPts val="2550"/>
              </a:lnSpc>
              <a:buNone/>
            </a:pP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・ヘタが緑で軸が乾いていないもの</a:t>
            </a:r>
            <a:pPr algn="l" indent="0" marL="0">
              <a:lnSpc>
                <a:spcPts val="2550"/>
              </a:lnSpc>
              <a:buNone/>
            </a:pP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・手に持つとずっしり重い物がおすすめ</a:t>
            </a:r>
            <a:endParaRPr lang="en-US" sz="1500" dirty="0"/>
          </a:p>
        </p:txBody>
      </p:sp>
      <p:sp>
        <p:nvSpPr>
          <p:cNvPr id="43" name="Text 37"/>
          <p:cNvSpPr txBox="1"/>
          <p:nvPr/>
        </p:nvSpPr>
        <p:spPr>
          <a:xfrm>
            <a:off x="1333195" y="9620402"/>
            <a:ext cx="11430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55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出典: 瑞穂市公式 / 農水省・和歌山県公式 / JAみなみ信州・南アルプス市</a:t>
            </a:r>
            <a:endParaRPr lang="en-US" sz="1200" dirty="0"/>
          </a:p>
        </p:txBody>
      </p:sp>
      <p:sp>
        <p:nvSpPr>
          <p:cNvPr id="44" name="Text 38"/>
          <p:cNvSpPr txBox="1"/>
          <p:nvPr/>
        </p:nvSpPr>
        <p:spPr>
          <a:xfrm>
            <a:off x="16192195" y="9620402"/>
            <a:ext cx="1905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b="1" spc="225" kern="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 / 05</a:t>
            </a:r>
            <a:endParaRPr lang="en-US" sz="1650" dirty="0"/>
          </a:p>
        </p:txBody>
      </p:sp>
      <p:sp>
        <p:nvSpPr>
          <p:cNvPr id="45" name="Text 39"/>
          <p:cNvSpPr txBox="1"/>
          <p:nvPr/>
        </p:nvSpPr>
        <p:spPr>
          <a:xfrm>
            <a:off x="1155802" y="843077"/>
            <a:ext cx="190469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 VARIETIES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5C3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7c7eb9787e4e4f2fdada4c22b338c2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99e674bbaac55339d392fb0c7ce92375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rcRect l="0" r="0" t="-10" b="-10"/>
          <a:stretch/>
        </p:blipFill>
        <p:spPr>
          <a:xfrm>
            <a:off x="571500" y="761695"/>
            <a:ext cx="2286000" cy="1524305"/>
          </a:xfrm>
          <a:prstGeom prst="rect">
            <a:avLst/>
          </a:prstGeom>
        </p:spPr>
      </p:pic>
      <p:pic>
        <p:nvPicPr>
          <p:cNvPr id="4" name="Image 2" descr="gen-dedup-c16f7e6b88178cb24d4718a0d39ec932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573000" y="1524305"/>
            <a:ext cx="5333695" cy="5333695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57707" y="5524805"/>
            <a:ext cx="4000500" cy="2857500"/>
          </a:xfrm>
          <a:prstGeom prst="roundRect">
            <a:avLst>
              <a:gd name="adj" fmla="val 9344"/>
            </a:avLst>
          </a:prstGeom>
          <a:solidFill>
            <a:srgbClr val="FFFB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5086807" y="5524805"/>
            <a:ext cx="4000500" cy="2857500"/>
          </a:xfrm>
          <a:prstGeom prst="roundRect">
            <a:avLst>
              <a:gd name="adj" fmla="val 9344"/>
            </a:avLst>
          </a:prstGeom>
          <a:solidFill>
            <a:srgbClr val="FFFB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9315907" y="5524805"/>
            <a:ext cx="4000500" cy="2857500"/>
          </a:xfrm>
          <a:prstGeom prst="roundRect">
            <a:avLst>
              <a:gd name="adj" fmla="val 9344"/>
            </a:avLst>
          </a:prstGeom>
          <a:solidFill>
            <a:srgbClr val="FFFB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3" descr="gen-dedup-fda6c9eaae700a49ce9a6de8e9cafb78.png">    </p:cNvPr>
          <p:cNvPicPr>
            <a:picLocks noChangeAspect="1"/>
          </p:cNvPicPr>
          <p:nvPr/>
        </p:nvPicPr>
        <p:blipFill>
          <a:blip r:embed="rId4"/>
          <a:srcRect l="-29" r="-29" t="0" b="0"/>
          <a:stretch/>
        </p:blipFill>
        <p:spPr>
          <a:xfrm>
            <a:off x="857707" y="5524805"/>
            <a:ext cx="4000500" cy="533095"/>
          </a:xfrm>
          <a:prstGeom prst="rect">
            <a:avLst/>
          </a:prstGeom>
        </p:spPr>
      </p:pic>
      <p:pic>
        <p:nvPicPr>
          <p:cNvPr id="9" name="Image 4" descr="gen-dedup-6b9308d034a304e365e1a261663c24f7.png">    </p:cNvPr>
          <p:cNvPicPr>
            <a:picLocks noChangeAspect="1"/>
          </p:cNvPicPr>
          <p:nvPr/>
        </p:nvPicPr>
        <p:blipFill>
          <a:blip r:embed="rId5"/>
          <a:srcRect l="-29" r="-29" t="0" b="0"/>
          <a:stretch/>
        </p:blipFill>
        <p:spPr>
          <a:xfrm>
            <a:off x="5086807" y="5524805"/>
            <a:ext cx="4000500" cy="533095"/>
          </a:xfrm>
          <a:prstGeom prst="rect">
            <a:avLst/>
          </a:prstGeom>
        </p:spPr>
      </p:pic>
      <p:pic>
        <p:nvPicPr>
          <p:cNvPr id="10" name="Image 5" descr="gen-dedup-7162fcc24321be1dd19d21c11bcc8cd8.png">    </p:cNvPr>
          <p:cNvPicPr>
            <a:picLocks noChangeAspect="1"/>
          </p:cNvPicPr>
          <p:nvPr/>
        </p:nvPicPr>
        <p:blipFill>
          <a:blip r:embed="rId6"/>
          <a:srcRect l="-29" r="-29" t="0" b="0"/>
          <a:stretch/>
        </p:blipFill>
        <p:spPr>
          <a:xfrm>
            <a:off x="9315907" y="5524805"/>
            <a:ext cx="4000500" cy="533095"/>
          </a:xfrm>
          <a:prstGeom prst="rect">
            <a:avLst/>
          </a:prstGeom>
        </p:spPr>
      </p:pic>
      <p:sp>
        <p:nvSpPr>
          <p:cNvPr id="11" name="Shape 3"/>
          <p:cNvSpPr/>
          <p:nvPr/>
        </p:nvSpPr>
        <p:spPr>
          <a:xfrm>
            <a:off x="14097305" y="7239305"/>
            <a:ext cx="3619195" cy="1904695"/>
          </a:xfrm>
          <a:prstGeom prst="roundRect">
            <a:avLst>
              <a:gd name="adj" fmla="val 24004"/>
            </a:avLst>
          </a:prstGeom>
          <a:solidFill>
            <a:srgbClr val="FFFB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4"/>
          <p:cNvSpPr/>
          <p:nvPr/>
        </p:nvSpPr>
        <p:spPr>
          <a:xfrm>
            <a:off x="15392095" y="6933895"/>
            <a:ext cx="418795" cy="304495"/>
          </a:xfrm>
          <a:prstGeom prst="rect">
            <a:avLst/>
          </a:prstGeom>
          <a:noFill/>
          <a:ln w="2794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Image 6" descr="かき丸 ネームプレート付き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3144500" y="2095805"/>
            <a:ext cx="4190695" cy="4190695"/>
          </a:xfrm>
          <a:prstGeom prst="rect">
            <a:avLst/>
          </a:prstGeom>
        </p:spPr>
      </p:pic>
      <p:sp>
        <p:nvSpPr>
          <p:cNvPr id="14" name="Shape 5"/>
          <p:cNvSpPr/>
          <p:nvPr/>
        </p:nvSpPr>
        <p:spPr>
          <a:xfrm>
            <a:off x="857707" y="2667305"/>
            <a:ext cx="2324405" cy="476402"/>
          </a:xfrm>
          <a:prstGeom prst="roundRect">
            <a:avLst>
              <a:gd name="adj" fmla="val 46065"/>
            </a:avLst>
          </a:prstGeom>
          <a:noFill/>
          <a:ln w="25400">
            <a:solidFill>
              <a:srgbClr val="FFC069"/>
            </a:solidFill>
            <a:prstDash val="solid"/>
          </a:ln>
        </p:spPr>
      </p:sp>
      <p:sp>
        <p:nvSpPr>
          <p:cNvPr id="15" name="Text 6"/>
          <p:cNvSpPr txBox="1"/>
          <p:nvPr/>
        </p:nvSpPr>
        <p:spPr>
          <a:xfrm>
            <a:off x="857707" y="3238805"/>
            <a:ext cx="12258446" cy="123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BE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柿の魅力を、</a:t>
            </a:r>
            <a:pPr algn="l" indent="0" marL="0">
              <a:buNone/>
            </a:pPr>
            <a:r>
              <a:rPr lang="en-US" sz="6600" b="1" dirty="0">
                <a:solidFill>
                  <a:srgbClr val="FFC069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もういちど</a:t>
            </a:r>
            <a:pPr algn="l" indent="0" marL="0">
              <a:buNone/>
            </a:pPr>
            <a:r>
              <a:rPr lang="en-US" sz="6600" b="1" dirty="0">
                <a:solidFill>
                  <a:srgbClr val="FFFBE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。</a:t>
            </a:r>
            <a:endParaRPr lang="en-US" sz="6600" dirty="0"/>
          </a:p>
        </p:txBody>
      </p:sp>
      <p:sp>
        <p:nvSpPr>
          <p:cNvPr id="16" name="Text 7"/>
          <p:cNvSpPr txBox="1"/>
          <p:nvPr/>
        </p:nvSpPr>
        <p:spPr>
          <a:xfrm>
            <a:off x="875995" y="4858207"/>
            <a:ext cx="102870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FFE9C9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秋をまるごと楽しむための3つのポイント、かき丸からお届けします。</a:t>
            </a:r>
            <a:endParaRPr lang="en-US" sz="1950" dirty="0"/>
          </a:p>
        </p:txBody>
      </p:sp>
      <p:sp>
        <p:nvSpPr>
          <p:cNvPr id="17" name="Text 8"/>
          <p:cNvSpPr txBox="1"/>
          <p:nvPr/>
        </p:nvSpPr>
        <p:spPr>
          <a:xfrm>
            <a:off x="1143000" y="6210605"/>
            <a:ext cx="34290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5C321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9〜12月の秋果実</a:t>
            </a:r>
            <a:endParaRPr lang="en-US" sz="2550" dirty="0"/>
          </a:p>
        </p:txBody>
      </p:sp>
      <p:sp>
        <p:nvSpPr>
          <p:cNvPr id="18" name="Text 9"/>
          <p:cNvSpPr txBox="1"/>
          <p:nvPr/>
        </p:nvSpPr>
        <p:spPr>
          <a:xfrm>
            <a:off x="1143000" y="6734556"/>
            <a:ext cx="3429000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早生から晩生まで旬が長く、</a:t>
            </a:r>
            <a:pPr algn="l" indent="0" marL="0">
              <a:lnSpc>
                <a:spcPts val="2550"/>
              </a:lnSpc>
              <a:buNone/>
            </a:pP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和歌山が45年連続1位。</a:t>
            </a:r>
            <a:pPr algn="l" indent="0" marL="0">
              <a:lnSpc>
                <a:spcPts val="2550"/>
              </a:lnSpc>
              <a:buNone/>
            </a:pP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秋の味覚の代表格です。</a:t>
            </a:r>
            <a:endParaRPr lang="en-US" sz="1500" dirty="0"/>
          </a:p>
        </p:txBody>
      </p:sp>
      <p:sp>
        <p:nvSpPr>
          <p:cNvPr id="19" name="Text 10"/>
          <p:cNvSpPr txBox="1"/>
          <p:nvPr/>
        </p:nvSpPr>
        <p:spPr>
          <a:xfrm>
            <a:off x="5372100" y="6210605"/>
            <a:ext cx="34290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5C321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栄養と抗酸化</a:t>
            </a:r>
            <a:endParaRPr lang="en-US" sz="2550" dirty="0"/>
          </a:p>
        </p:txBody>
      </p:sp>
      <p:sp>
        <p:nvSpPr>
          <p:cNvPr id="20" name="Text 11"/>
          <p:cNvSpPr txBox="1"/>
          <p:nvPr/>
        </p:nvSpPr>
        <p:spPr>
          <a:xfrm>
            <a:off x="5372100" y="6734556"/>
            <a:ext cx="3429000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ビタミンC 70mg、βクリプト</a:t>
            </a:r>
            <a:pPr algn="l" indent="0" marL="0">
              <a:lnSpc>
                <a:spcPts val="2550"/>
              </a:lnSpc>
              <a:buNone/>
            </a:pP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キサンチン 500μg。</a:t>
            </a:r>
            <a:pPr algn="l" indent="0" marL="0">
              <a:lnSpc>
                <a:spcPts val="2550"/>
              </a:lnSpc>
              <a:buNone/>
            </a:pP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果物でもトップクラスの抗酸化力です。</a:t>
            </a:r>
            <a:endParaRPr lang="en-US" sz="1500" dirty="0"/>
          </a:p>
        </p:txBody>
      </p:sp>
      <p:sp>
        <p:nvSpPr>
          <p:cNvPr id="21" name="Text 12"/>
          <p:cNvSpPr txBox="1"/>
          <p:nvPr/>
        </p:nvSpPr>
        <p:spPr>
          <a:xfrm>
            <a:off x="9601200" y="6210605"/>
            <a:ext cx="34290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5C321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品種と加工</a:t>
            </a:r>
            <a:endParaRPr lang="en-US" sz="2550" dirty="0"/>
          </a:p>
        </p:txBody>
      </p:sp>
      <p:sp>
        <p:nvSpPr>
          <p:cNvPr id="22" name="Text 13"/>
          <p:cNvSpPr txBox="1"/>
          <p:nvPr/>
        </p:nvSpPr>
        <p:spPr>
          <a:xfrm>
            <a:off x="9601200" y="6734556"/>
            <a:ext cx="3429000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富有・次郎・平核無、</a:t>
            </a:r>
            <a:pPr algn="l" indent="0" marL="0">
              <a:lnSpc>
                <a:spcPts val="2550"/>
              </a:lnSpc>
              <a:buNone/>
            </a:pP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生食から干し柿・あんぽ柿まで、</a:t>
            </a:r>
            <a:pPr algn="l" indent="0" marL="0">
              <a:lnSpc>
                <a:spcPts val="2550"/>
              </a:lnSpc>
              <a:buNone/>
            </a:pP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5C321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個性豊かな秋の恵みを。</a:t>
            </a:r>
            <a:endParaRPr lang="en-US" sz="1500" dirty="0"/>
          </a:p>
        </p:txBody>
      </p:sp>
      <p:sp>
        <p:nvSpPr>
          <p:cNvPr id="23" name="Text 14"/>
          <p:cNvSpPr txBox="1"/>
          <p:nvPr/>
        </p:nvSpPr>
        <p:spPr>
          <a:xfrm>
            <a:off x="857707" y="8667598"/>
            <a:ext cx="2857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300" kern="0" dirty="0">
                <a:solidFill>
                  <a:srgbClr val="FFC0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主な出典</a:t>
            </a:r>
            <a:endParaRPr lang="en-US" sz="1350" dirty="0"/>
          </a:p>
        </p:txBody>
      </p:sp>
      <p:sp>
        <p:nvSpPr>
          <p:cNvPr id="24" name="Text 15"/>
          <p:cNvSpPr txBox="1"/>
          <p:nvPr/>
        </p:nvSpPr>
        <p:spPr>
          <a:xfrm>
            <a:off x="857707" y="8949233"/>
            <a:ext cx="781080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FFFBEC">
                    <a:alpha val="88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農林水産省 令和5〜6年産統計 / FAO 2024 / 日本食品標準成分表</a:t>
            </a:r>
            <a:pPr algn="l" indent="0" marL="0">
              <a:lnSpc>
                <a:spcPts val="2100"/>
              </a:lnSpc>
              <a:buNone/>
            </a:pP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FFFBEC">
                    <a:alpha val="88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瑞穂市・伊達市・JAみなみ信州・和歌山県公式など</a:t>
            </a:r>
            <a:endParaRPr lang="en-US" sz="1200" dirty="0"/>
          </a:p>
        </p:txBody>
      </p:sp>
      <p:sp>
        <p:nvSpPr>
          <p:cNvPr id="25" name="Text 16"/>
          <p:cNvSpPr txBox="1"/>
          <p:nvPr/>
        </p:nvSpPr>
        <p:spPr>
          <a:xfrm>
            <a:off x="15811805" y="9620402"/>
            <a:ext cx="2286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b="1" spc="225" kern="0" dirty="0">
                <a:solidFill>
                  <a:srgbClr val="FFFB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 / 05</a:t>
            </a:r>
            <a:endParaRPr lang="en-US" sz="1650" dirty="0"/>
          </a:p>
        </p:txBody>
      </p:sp>
      <p:sp>
        <p:nvSpPr>
          <p:cNvPr id="26" name="Text 17"/>
          <p:cNvSpPr txBox="1"/>
          <p:nvPr/>
        </p:nvSpPr>
        <p:spPr>
          <a:xfrm>
            <a:off x="857707" y="9620402"/>
            <a:ext cx="7620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E9C9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柿の魅力、読みものデッキ ・ 全5枚</a:t>
            </a:r>
            <a:endParaRPr lang="en-US" sz="1350" dirty="0"/>
          </a:p>
        </p:txBody>
      </p:sp>
      <p:sp>
        <p:nvSpPr>
          <p:cNvPr id="27" name="Text 18"/>
          <p:cNvSpPr txBox="1"/>
          <p:nvPr/>
        </p:nvSpPr>
        <p:spPr>
          <a:xfrm>
            <a:off x="1232611" y="2747772"/>
            <a:ext cx="154350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FFC0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 MESSAGE</a:t>
            </a:r>
            <a:endParaRPr lang="en-US" sz="1500" dirty="0"/>
          </a:p>
        </p:txBody>
      </p:sp>
      <p:sp>
        <p:nvSpPr>
          <p:cNvPr id="28" name="Text 19"/>
          <p:cNvSpPr txBox="1"/>
          <p:nvPr/>
        </p:nvSpPr>
        <p:spPr>
          <a:xfrm>
            <a:off x="2275027" y="5524805"/>
            <a:ext cx="1353312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300" kern="0" dirty="0">
                <a:solidFill>
                  <a:srgbClr val="FFFBE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POINT 01</a:t>
            </a:r>
            <a:endParaRPr lang="en-US" sz="1650" dirty="0"/>
          </a:p>
        </p:txBody>
      </p:sp>
      <p:sp>
        <p:nvSpPr>
          <p:cNvPr id="29" name="Text 20"/>
          <p:cNvSpPr txBox="1"/>
          <p:nvPr/>
        </p:nvSpPr>
        <p:spPr>
          <a:xfrm>
            <a:off x="6500470" y="5524805"/>
            <a:ext cx="1354226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300" kern="0" dirty="0">
                <a:solidFill>
                  <a:srgbClr val="FFFBE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POINT 02</a:t>
            </a:r>
            <a:endParaRPr lang="en-US" sz="1650" dirty="0"/>
          </a:p>
        </p:txBody>
      </p:sp>
      <p:sp>
        <p:nvSpPr>
          <p:cNvPr id="30" name="Text 21"/>
          <p:cNvSpPr txBox="1"/>
          <p:nvPr/>
        </p:nvSpPr>
        <p:spPr>
          <a:xfrm>
            <a:off x="10725912" y="5524805"/>
            <a:ext cx="1354226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300" kern="0" dirty="0">
                <a:solidFill>
                  <a:srgbClr val="FFFBE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POINT 03</a:t>
            </a:r>
            <a:endParaRPr lang="en-US" sz="1650" dirty="0"/>
          </a:p>
        </p:txBody>
      </p:sp>
      <p:sp>
        <p:nvSpPr>
          <p:cNvPr id="31" name="Text 22"/>
          <p:cNvSpPr txBox="1"/>
          <p:nvPr/>
        </p:nvSpPr>
        <p:spPr>
          <a:xfrm>
            <a:off x="15268651" y="7534656"/>
            <a:ext cx="174376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b="1" spc="300" kern="0" dirty="0">
                <a:solidFill>
                  <a:srgbClr val="587B2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かき丸のひと言</a:t>
            </a:r>
            <a:endParaRPr lang="en-US" sz="1650" dirty="0"/>
          </a:p>
        </p:txBody>
      </p:sp>
      <p:sp>
        <p:nvSpPr>
          <p:cNvPr id="32" name="Text 23"/>
          <p:cNvSpPr txBox="1"/>
          <p:nvPr/>
        </p:nvSpPr>
        <p:spPr>
          <a:xfrm>
            <a:off x="14706295" y="7876642"/>
            <a:ext cx="2857500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5C3218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秋の</a:t>
            </a:r>
            <a:pPr algn="ctr" indent="0" marL="0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E66A1F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しあわせ</a:t>
            </a:r>
            <a:pPr algn="ctr" indent="0" marL="0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5C3218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を、</a:t>
            </a:r>
            <a:pPr algn="ctr" indent="0" marL="0">
              <a:lnSpc>
                <a:spcPts val="3600"/>
              </a:lnSpc>
              <a:buNone/>
            </a:pPr>
            <a:endParaRPr lang="en-US" sz="2250" dirty="0"/>
          </a:p>
          <a:p>
            <a:pPr algn="ctr" indent="0" marL="0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5C3218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まるごといただこう♪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2026-10-30T21:14:54Z</dcterms:created>
  <dcterms:modified xsi:type="dcterms:W3CDTF">2026-10-30T21:14:54Z</dcterms:modified>
</cp:coreProperties>
</file>