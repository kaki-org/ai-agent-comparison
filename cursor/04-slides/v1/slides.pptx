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案内" id="{f8460946-d5f2-be53-f34b-c755507911d7}">
          <p14:sldIdLst>
            <p14:sldId id="256"/>
          </p14:sldIdLst>
        </p14:section>
        <p14:section name="魅力" id="{4c2ca059-fc5b-f003-ca5b-732f2d8cdb1a}">
          <p14:sldIdLst>
            <p14:sldId id="257"/>
            <p14:sldId id="258"/>
            <p14:sldId id="259"/>
          </p14:sldIdLst>
        </p14:section>
        <p14:section name="結び" id="{7c3bd18c-cf73-a5a7-37a6-a4b916ad5726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こんにちは。案内役のポテガキです。今日は柿の魅力を、甘柿と渋柿、食べ方まで短く紹介します。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柿は甘柿と渋柿に分かれます。甘柿はそのまま、渋柿は渋を抜いて、あるいは干して食べます。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数字は甘柿を生で食べたとき、可食部100gの値です。ビタミンCは70mg、カリウムは170mg、エネルギーは63kcalです。旬の中心は10月から12月です。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食べ方は、生、干し柿、和え物やサラダ、奈良の柿の葉寿司の四つを紹介します。干し柿になるのは、主に渋柿です。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結びは正岡子規の句です。柿の旬は10月から12月。ひとつ、味わってみてください、と閉じてください。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72768"/>
            <a:ext cx="58521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99232"/>
            <a:ext cx="56692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30352" y="457200"/>
            <a:ext cx="96012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30352" y="61630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chemeClr val="tx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ポテガキの柿案内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163056"/>
            <a:ext cx="9601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  <a:latin typeface="BIZ UDGothic"/>
                <a:ea typeface="BIZ UDGothic"/>
                <a:cs typeface="BIZ UD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25880"/>
            <a:ext cx="5943600" cy="2606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163056"/>
            <a:ext cx="9601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  <a:latin typeface="BIZ UDGothic"/>
                <a:ea typeface="BIZ UDGothic"/>
                <a:cs typeface="BIZ UD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柿の丸"/>
          <p:cNvSpPr/>
          <p:nvPr/>
        </p:nvSpPr>
        <p:spPr>
          <a:xfrm>
            <a:off x="7635240" y="1417320"/>
            <a:ext cx="3794760" cy="3794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ポテガキ" descr="柿のゆるキャラ、ポテガ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051560"/>
            <a:ext cx="4572000" cy="4343400"/>
          </a:xfrm>
          <a:prstGeom prst="rect">
            <a:avLst/>
          </a:prstGeom>
        </p:spPr>
      </p:pic>
      <p:sp>
        <p:nvSpPr>
          <p:cNvPr id="4" name="案内ラベル"/>
          <p:cNvSpPr/>
          <p:nvPr/>
        </p:nvSpPr>
        <p:spPr>
          <a:xfrm>
            <a:off x="640080" y="932688"/>
            <a:ext cx="260604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93268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chemeClr val="bg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案内役・ポテガキ</a:t>
            </a:r>
            <a:endParaRPr lang="ja-JP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1572768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5400" b="1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柿の魅力</a:t>
            </a:r>
            <a:endParaRPr lang="ja-JP" sz="5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40080" y="2999232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000" dirty="0">
                <a:solidFill>
                  <a:schemeClr val="bg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甘さ、渋さ、干したあとの濃さまで。</a:t>
            </a:r>
            <a:endParaRPr lang="ja-JP" sz="2000" dirty="0"/>
          </a:p>
          <a:p>
            <a:pPr algn="l" indent="0" marL="0">
              <a:buNone/>
            </a:pPr>
            <a:r>
              <a:rPr lang="ja-JP" altLang="en-US" sz="2000" dirty="0">
                <a:solidFill>
                  <a:schemeClr val="bg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秋の果実を、ひととおり案内します。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30352" y="45720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6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甘柿と渋柿</a:t>
            </a:r>
            <a:endParaRPr lang="ja-JP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22529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ポテガキ「甘いか、渋いか。案内は、そこからです」</a:t>
            </a:r>
            <a:endParaRPr lang="ja-JP" sz="1600" dirty="0"/>
          </a:p>
        </p:txBody>
      </p:sp>
      <p:pic>
        <p:nvPicPr>
          <p:cNvPr id="4" name="ポテガキ" descr="柿のゆるキャラ、ポテガ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051560" cy="996696"/>
          </a:xfrm>
          <a:prstGeom prst="rect">
            <a:avLst/>
          </a:prstGeom>
        </p:spPr>
      </p:pic>
      <p:sp>
        <p:nvSpPr>
          <p:cNvPr id="5" name="カード"/>
          <p:cNvSpPr/>
          <p:nvPr/>
        </p:nvSpPr>
        <p:spPr>
          <a:xfrm>
            <a:off x="530352" y="1874520"/>
            <a:ext cx="5422392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203200" dist="50800" dir="5400000">
              <a:srgbClr val="2C1810">
                <a:alpha val="10000"/>
              </a:srgbClr>
            </a:outerShdw>
          </a:effectLst>
        </p:spPr>
      </p:sp>
      <p:sp>
        <p:nvSpPr>
          <p:cNvPr id="6" name="丸見出し"/>
          <p:cNvSpPr/>
          <p:nvPr/>
        </p:nvSpPr>
        <p:spPr>
          <a:xfrm>
            <a:off x="859536" y="2203704"/>
            <a:ext cx="621792" cy="6217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9536" y="22037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甘</a:t>
            </a:r>
            <a:endParaRPr lang="ja-JP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768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甘柿</a:t>
            </a:r>
            <a:endParaRPr lang="ja-JP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108960"/>
            <a:ext cx="4690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熟せば、切ってそのまま食べられます。</a:t>
            </a:r>
            <a:endParaRPr lang="ja-JP" sz="16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富有や次郎が代表です。</a:t>
            </a:r>
            <a:endParaRPr lang="ja-JP" sz="16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完熟すると、とろりと甘くなります。</a:t>
            </a:r>
            <a:endParaRPr lang="ja-JP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502920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代表品種　富有・次郎</a:t>
            </a:r>
            <a:endParaRPr lang="ja-JP" sz="1600" dirty="0"/>
          </a:p>
        </p:txBody>
      </p:sp>
      <p:sp>
        <p:nvSpPr>
          <p:cNvPr id="11" name="カード"/>
          <p:cNvSpPr/>
          <p:nvPr/>
        </p:nvSpPr>
        <p:spPr>
          <a:xfrm>
            <a:off x="6245352" y="1874520"/>
            <a:ext cx="5422392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203200" dist="50800" dir="5400000">
              <a:srgbClr val="2C1810">
                <a:alpha val="10000"/>
              </a:srgbClr>
            </a:outerShdw>
          </a:effectLst>
        </p:spPr>
      </p:sp>
      <p:sp>
        <p:nvSpPr>
          <p:cNvPr id="12" name="丸見出し"/>
          <p:cNvSpPr/>
          <p:nvPr/>
        </p:nvSpPr>
        <p:spPr>
          <a:xfrm>
            <a:off x="6574536" y="2203704"/>
            <a:ext cx="621792" cy="6217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74536" y="22037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渋</a:t>
            </a:r>
            <a:endParaRPr lang="ja-JP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22768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渋柿</a:t>
            </a:r>
            <a:endParaRPr lang="ja-JP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611112" y="3108960"/>
            <a:ext cx="4690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そのままでは渋い果実です。</a:t>
            </a:r>
            <a:endParaRPr lang="ja-JP" sz="16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渋を抜くと、甘さが濃くなります。</a:t>
            </a:r>
            <a:endParaRPr lang="ja-JP" sz="16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干し柿の主役は、こちらです。</a:t>
            </a:r>
            <a:endParaRPr lang="ja-JP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611112" y="502920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代表品種　平核無・甲州百目</a:t>
            </a:r>
            <a:endParaRPr lang="ja-JP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163056"/>
            <a:ext cx="9601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  <a:latin typeface="BIZ UDGothic"/>
                <a:ea typeface="BIZ UDGothic"/>
                <a:cs typeface="BIZ UD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30352" y="45720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6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数字で見る甘柿</a:t>
            </a:r>
            <a:endParaRPr lang="ja-JP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22529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ポテガキ「甘柿を、生のまま食べたときの数字です」</a:t>
            </a:r>
            <a:endParaRPr lang="ja-JP" sz="1600" dirty="0"/>
          </a:p>
        </p:txBody>
      </p:sp>
      <p:pic>
        <p:nvPicPr>
          <p:cNvPr id="4" name="ポテガキ" descr="柿のゆるキャラ、ポテガ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051560" cy="996696"/>
          </a:xfrm>
          <a:prstGeom prst="rect">
            <a:avLst/>
          </a:prstGeom>
        </p:spPr>
      </p:pic>
      <p:sp>
        <p:nvSpPr>
          <p:cNvPr id="5" name="カード"/>
          <p:cNvSpPr/>
          <p:nvPr/>
        </p:nvSpPr>
        <p:spPr>
          <a:xfrm>
            <a:off x="530352" y="1810512"/>
            <a:ext cx="3538728" cy="3127248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  <a:effectLst>
            <a:outerShdw sx="100000" sy="100000" kx="0" ky="0" algn="bl" rotWithShape="0" blurRad="203200" dist="50800" dir="5400000">
              <a:srgbClr val="2C181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215798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ja-JP" altLang="en-US" sz="5400" b="1" dirty="0">
                <a:solidFill>
                  <a:schemeClr val="accent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70</a:t>
            </a:r>
            <a:pPr indent="0" marL="0">
              <a:buNone/>
            </a:pPr>
            <a:r>
              <a:rPr lang="ja-JP" altLang="en-US" sz="1800" b="1" dirty="0">
                <a:solidFill>
                  <a:schemeClr val="accent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mg</a:t>
            </a:r>
            <a:endParaRPr lang="ja-JP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55264"/>
            <a:ext cx="2953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ビタミンC</a:t>
            </a:r>
            <a:endParaRPr lang="ja-JP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85616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基準値の7割です。</a:t>
            </a:r>
            <a:endParaRPr lang="ja-JP" sz="1600" dirty="0"/>
          </a:p>
        </p:txBody>
      </p:sp>
      <p:sp>
        <p:nvSpPr>
          <p:cNvPr id="9" name="カード"/>
          <p:cNvSpPr/>
          <p:nvPr/>
        </p:nvSpPr>
        <p:spPr>
          <a:xfrm>
            <a:off x="4325112" y="1810512"/>
            <a:ext cx="3538728" cy="3127248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  <a:effectLst>
            <a:outerShdw sx="100000" sy="100000" kx="0" ky="0" algn="bl" rotWithShape="0" blurRad="203200" dist="50800" dir="5400000">
              <a:srgbClr val="2C181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617720" y="215798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ja-JP" altLang="en-US" sz="5400" b="1" dirty="0">
                <a:solidFill>
                  <a:schemeClr val="accent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170</a:t>
            </a:r>
            <a:pPr indent="0" marL="0">
              <a:buNone/>
            </a:pPr>
            <a:r>
              <a:rPr lang="ja-JP" altLang="en-US" sz="1800" b="1" dirty="0">
                <a:solidFill>
                  <a:schemeClr val="accent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mg</a:t>
            </a:r>
            <a:endParaRPr lang="ja-JP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3255264"/>
            <a:ext cx="2953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カリウム</a:t>
            </a:r>
            <a:endParaRPr lang="ja-JP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3785616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ミネラルのひとつです。</a:t>
            </a:r>
            <a:endParaRPr lang="ja-JP" sz="1600" dirty="0"/>
          </a:p>
        </p:txBody>
      </p:sp>
      <p:sp>
        <p:nvSpPr>
          <p:cNvPr id="13" name="カード"/>
          <p:cNvSpPr/>
          <p:nvPr/>
        </p:nvSpPr>
        <p:spPr>
          <a:xfrm>
            <a:off x="8119872" y="1810512"/>
            <a:ext cx="3538728" cy="3127248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  <a:effectLst>
            <a:outerShdw sx="100000" sy="100000" kx="0" ky="0" algn="bl" rotWithShape="0" blurRad="203200" dist="50800" dir="5400000">
              <a:srgbClr val="2C181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412480" y="215798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ja-JP" altLang="en-US" sz="5400" b="1" dirty="0">
                <a:solidFill>
                  <a:schemeClr val="accent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63</a:t>
            </a:r>
            <a:pPr indent="0" marL="0">
              <a:buNone/>
            </a:pPr>
            <a:r>
              <a:rPr lang="ja-JP" altLang="en-US" sz="1800" b="1" dirty="0">
                <a:solidFill>
                  <a:schemeClr val="accent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kcal</a:t>
            </a:r>
            <a:endParaRPr lang="ja-JP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255264"/>
            <a:ext cx="2953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エネルギー</a:t>
            </a:r>
            <a:endParaRPr lang="ja-JP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3785616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果実として、ふつうの量です。</a:t>
            </a:r>
            <a:endParaRPr lang="ja-JP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" y="510235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食物繊維 1.6g　・　β-クリプトキサンチン 500μg　・　旬は10月から12月</a:t>
            </a:r>
            <a:endParaRPr lang="ja-JP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5449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chemeClr val="tx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出典：日本食品標準成分表（八訂）増補2023年　かき・甘がき・生、可食部100g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163056"/>
            <a:ext cx="9601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  <a:latin typeface="BIZ UDGothic"/>
                <a:ea typeface="BIZ UDGothic"/>
                <a:cs typeface="BIZ UD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30352" y="45720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6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味わい方は、四つ</a:t>
            </a:r>
            <a:endParaRPr lang="ja-JP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22529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ポテガキ「干し柿が、いちばん好きです」</a:t>
            </a:r>
            <a:endParaRPr lang="ja-JP" sz="1600" dirty="0"/>
          </a:p>
        </p:txBody>
      </p:sp>
      <p:pic>
        <p:nvPicPr>
          <p:cNvPr id="4" name="ポテガキ" descr="柿のゆるキャラ、ポテガ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"/>
            <a:ext cx="1051560" cy="996696"/>
          </a:xfrm>
          <a:prstGeom prst="rect">
            <a:avLst/>
          </a:prstGeom>
        </p:spPr>
      </p:pic>
      <p:sp>
        <p:nvSpPr>
          <p:cNvPr id="5" name="カード"/>
          <p:cNvSpPr/>
          <p:nvPr/>
        </p:nvSpPr>
        <p:spPr>
          <a:xfrm>
            <a:off x="530352" y="1810512"/>
            <a:ext cx="5422392" cy="1901952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  <a:effectLst>
            <a:outerShdw sx="100000" sy="100000" kx="0" ky="0" algn="bl" rotWithShape="0" blurRad="203200" dist="50800" dir="5400000">
              <a:srgbClr val="2C1810">
                <a:alpha val="10000"/>
              </a:srgbClr>
            </a:outerShdw>
          </a:effectLst>
        </p:spPr>
      </p:sp>
      <p:sp>
        <p:nvSpPr>
          <p:cNvPr id="6" name="丸見出し"/>
          <p:cNvSpPr/>
          <p:nvPr/>
        </p:nvSpPr>
        <p:spPr>
          <a:xfrm>
            <a:off x="822960" y="210312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1</a:t>
            </a:r>
            <a:endParaRPr lang="ja-JP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99616" y="213969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そのまま</a:t>
            </a:r>
            <a:endParaRPr lang="ja-JP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2770632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甘柿は皮をむいて。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完熟は、スプーンでも食べられます。</a:t>
            </a:r>
            <a:endParaRPr lang="ja-JP" sz="1600" dirty="0"/>
          </a:p>
        </p:txBody>
      </p:sp>
      <p:sp>
        <p:nvSpPr>
          <p:cNvPr id="10" name="カード"/>
          <p:cNvSpPr/>
          <p:nvPr/>
        </p:nvSpPr>
        <p:spPr>
          <a:xfrm>
            <a:off x="6245352" y="1810512"/>
            <a:ext cx="5422392" cy="1901952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  <a:effectLst>
            <a:outerShdw sx="100000" sy="100000" kx="0" ky="0" algn="bl" rotWithShape="0" blurRad="203200" dist="50800" dir="5400000">
              <a:srgbClr val="2C1810">
                <a:alpha val="10000"/>
              </a:srgbClr>
            </a:outerShdw>
          </a:effectLst>
        </p:spPr>
      </p:sp>
      <p:sp>
        <p:nvSpPr>
          <p:cNvPr id="11" name="丸見出し"/>
          <p:cNvSpPr/>
          <p:nvPr/>
        </p:nvSpPr>
        <p:spPr>
          <a:xfrm>
            <a:off x="6537960" y="210312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37960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2</a:t>
            </a:r>
            <a:endParaRPr lang="ja-JP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214616" y="213969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干し柿</a:t>
            </a:r>
            <a:endParaRPr lang="ja-JP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574536" y="2770632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渋柿を干すと、甘さが凝縮します。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日持ちするお菓子になります。</a:t>
            </a:r>
            <a:endParaRPr lang="ja-JP" sz="1600" dirty="0"/>
          </a:p>
        </p:txBody>
      </p:sp>
      <p:sp>
        <p:nvSpPr>
          <p:cNvPr id="15" name="カード"/>
          <p:cNvSpPr/>
          <p:nvPr/>
        </p:nvSpPr>
        <p:spPr>
          <a:xfrm>
            <a:off x="530352" y="3950208"/>
            <a:ext cx="5422392" cy="1901952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  <a:effectLst>
            <a:outerShdw sx="100000" sy="100000" kx="0" ky="0" algn="bl" rotWithShape="0" blurRad="203200" dist="50800" dir="5400000">
              <a:srgbClr val="2C1810">
                <a:alpha val="10000"/>
              </a:srgbClr>
            </a:outerShdw>
          </a:effectLst>
        </p:spPr>
      </p:sp>
      <p:sp>
        <p:nvSpPr>
          <p:cNvPr id="16" name="丸見出し"/>
          <p:cNvSpPr/>
          <p:nvPr/>
        </p:nvSpPr>
        <p:spPr>
          <a:xfrm>
            <a:off x="822960" y="424281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242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3</a:t>
            </a:r>
            <a:endParaRPr lang="ja-JP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99616" y="42793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あわせて</a:t>
            </a:r>
            <a:endParaRPr lang="ja-JP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" y="4910328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柿なます、白和え、サラダに。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塩気との相性がよいです。</a:t>
            </a:r>
            <a:endParaRPr lang="ja-JP" sz="1600" dirty="0"/>
          </a:p>
        </p:txBody>
      </p:sp>
      <p:sp>
        <p:nvSpPr>
          <p:cNvPr id="20" name="カード"/>
          <p:cNvSpPr/>
          <p:nvPr/>
        </p:nvSpPr>
        <p:spPr>
          <a:xfrm>
            <a:off x="6245352" y="3950208"/>
            <a:ext cx="5422392" cy="1901952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  <a:effectLst>
            <a:outerShdw sx="100000" sy="100000" kx="0" ky="0" algn="bl" rotWithShape="0" blurRad="203200" dist="50800" dir="5400000">
              <a:srgbClr val="2C1810">
                <a:alpha val="10000"/>
              </a:srgbClr>
            </a:outerShdw>
          </a:effectLst>
        </p:spPr>
      </p:sp>
      <p:sp>
        <p:nvSpPr>
          <p:cNvPr id="21" name="丸見出し"/>
          <p:cNvSpPr/>
          <p:nvPr/>
        </p:nvSpPr>
        <p:spPr>
          <a:xfrm>
            <a:off x="6537960" y="424281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37960" y="4242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4</a:t>
            </a:r>
            <a:endParaRPr lang="ja-JP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214616" y="42793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柿の葉寿司</a:t>
            </a:r>
            <a:endParaRPr lang="ja-JP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574536" y="4910328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奈良の郷土食です。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葉の香りが、ごはんを包みます。</a:t>
            </a:r>
            <a:endParaRPr lang="ja-JP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163056"/>
            <a:ext cx="9601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2"/>
                </a:solidFill>
                <a:latin typeface="BIZ UDGothic"/>
                <a:ea typeface="BIZ UDGothic"/>
                <a:cs typeface="BIZ UD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柿の丸"/>
          <p:cNvSpPr/>
          <p:nvPr/>
        </p:nvSpPr>
        <p:spPr>
          <a:xfrm>
            <a:off x="8092440" y="1051560"/>
            <a:ext cx="3246120" cy="3246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ポテガキ" descr="柿のゆるキャラ、ポテガ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658368"/>
            <a:ext cx="4160520" cy="395935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325880"/>
            <a:ext cx="5943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4400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柿食えば</a:t>
            </a:r>
            <a:endParaRPr lang="ja-JP" sz="4400" dirty="0"/>
          </a:p>
          <a:p>
            <a:pPr algn="l" indent="0" marL="0">
              <a:buNone/>
            </a:pPr>
            <a:r>
              <a:rPr lang="ja-JP" altLang="en-US" sz="4400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鐘が鳴るなり</a:t>
            </a:r>
            <a:endParaRPr lang="ja-JP" sz="4400" dirty="0"/>
          </a:p>
          <a:p>
            <a:pPr algn="l" indent="0" marL="0">
              <a:buNone/>
            </a:pPr>
            <a:r>
              <a:rPr lang="ja-JP" altLang="en-US" sz="4400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法隆寺</a:t>
            </a:r>
            <a:endParaRPr lang="ja-JP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bg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正岡子規</a:t>
            </a:r>
            <a:endParaRPr lang="ja-JP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492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bg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旬は、10月から12月です。</a:t>
            </a:r>
            <a:endParaRPr lang="ja-JP" sz="1800" dirty="0"/>
          </a:p>
        </p:txBody>
      </p:sp>
      <p:sp>
        <p:nvSpPr>
          <p:cNvPr id="7" name="セリフ"/>
          <p:cNvSpPr/>
          <p:nvPr/>
        </p:nvSpPr>
        <p:spPr>
          <a:xfrm>
            <a:off x="6903720" y="5138928"/>
            <a:ext cx="4709160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086600" y="513892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BIZ UDMincho" pitchFamily="34" charset="0"/>
                <a:ea typeface="BIZ UDMincho" pitchFamily="34" charset="-122"/>
                <a:cs typeface="BIZ UDMincho" pitchFamily="34" charset="-120"/>
              </a:rPr>
              <a:t>ひとつ、味わってみてください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teGaki">
  <a:themeElements>
    <a:clrScheme name="PoteGaki">
      <a:dk1>
        <a:srgbClr val="2C1810"/>
      </a:dk1>
      <a:lt1>
        <a:srgbClr val="FFFFFF"/>
      </a:lt1>
      <a:dk2>
        <a:srgbClr val="6B5348"/>
      </a:dk2>
      <a:lt2>
        <a:srgbClr val="F3F6F1"/>
      </a:lt2>
      <a:accent1>
        <a:srgbClr val="C45112"/>
      </a:accent1>
      <a:accent2>
        <a:srgbClr val="2F6B3A"/>
      </a:accent2>
      <a:accent3>
        <a:srgbClr val="8E3014"/>
      </a:accent3>
      <a:accent4>
        <a:srgbClr val="F4A261"/>
      </a:accent4>
      <a:accent5>
        <a:srgbClr val="6B2E1A"/>
      </a:accent5>
      <a:accent6>
        <a:srgbClr val="F6D3C4"/>
      </a:accent6>
      <a:hlink>
        <a:srgbClr val="2F6B3A"/>
      </a:hlink>
      <a:folHlink>
        <a:srgbClr val="8E3014"/>
      </a:folHlink>
    </a:clrScheme>
    <a:fontScheme name="PoteGaki">
      <a:majorFont>
        <a:latin typeface="BIZ UDMincho"/>
        <a:ea typeface="BIZ UDMincho"/>
        <a:cs typeface=""/>
        <a:font script="Jpan" typeface="BIZ UDMinch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Gothic"/>
        <a:ea typeface="BIZ UDGothic"/>
        <a:cs typeface=""/>
        <a:font script="Jpan" typeface="BIZ UD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柿の魅力</dc:title>
  <dc:subject>ポテガキが案内する柿の魅力</dc:subject>
  <dc:creator>ポテガキ</dc:creator>
  <cp:lastModifiedBy>ポテガキ</cp:lastModifiedBy>
  <cp:revision>1</cp:revision>
  <dcterms:created xsi:type="dcterms:W3CDTF">2026-10-30T02:04:31Z</dcterms:created>
  <dcterms:modified xsi:type="dcterms:W3CDTF">2026-10-30T02:04:31Z</dcterms:modified>
</cp:coreProperties>
</file>