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柿のゆるキャラ「かきまる」が案内役です。これから柿の栄養、種類、楽しみ方を紹介します。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柿はビタミンCが豊富で、甘柿100gあたり約70mg。β-カロテンや食物繊維も含みます。「柿が赤くなると医者が青くなる」ということわざもあるほどです。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柿は大きく甘柿と渋柿に分かれます。甘柿は富有や次郎、渋柿は平核無（ひらたねなし）や刀根早生が代表的。渋柿は渋抜きや干し柿にすることで甘くなります。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生のままはもちろん、干し柿、白和えやサラダなどの料理、さらに柿の葉寿司や柿の葉茶まで、柿は楽しみ方がたくさんあります。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柿の旬は10月から11月。栄養も楽しみ方もたっぷりの柿を、この秋ぜひ味わってください。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BEB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3B2314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20490"/>
            <a:ext cx="10566400" cy="4424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3B2314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B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3B2314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20490"/>
            <a:ext cx="10566400" cy="4424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3B2314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545630"/>
            <a:ext cx="65405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spc="200" kern="0" dirty="0">
                <a:solidFill>
                  <a:srgbClr val="B84E0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秋の果物ガイド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084090"/>
            <a:ext cx="65405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00"/>
              </a:lnSpc>
              <a:buNone/>
            </a:pPr>
            <a:r>
              <a:rPr lang="en-US" sz="6000" b="1" i="0" dirty="0">
                <a:solidFill>
                  <a:srgbClr val="3B2314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かきまると学ぶ</a:t>
            </a:r>
            <a:endParaRPr lang="en-US" sz="6000" dirty="0"/>
          </a:p>
          <a:p>
            <a:pPr algn="l" indent="0" marL="0">
              <a:lnSpc>
                <a:spcPts val="6900"/>
              </a:lnSpc>
              <a:buNone/>
            </a:pPr>
            <a:r>
              <a:rPr lang="en-US" sz="6000" b="1" i="0" dirty="0">
                <a:solidFill>
                  <a:srgbClr val="3B2314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柿の魅力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4090690"/>
            <a:ext cx="65405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6B4A33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甘くて、栄養たっぷり、食べ方いろいろ。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325" y="4745335"/>
            <a:ext cx="3981450" cy="557510"/>
          </a:xfrm>
          <a:prstGeom prst="roundRect">
            <a:avLst>
              <a:gd name="adj" fmla="val 43851"/>
            </a:avLst>
          </a:prstGeom>
          <a:solidFill>
            <a:srgbClr val="FFFDF8"/>
          </a:solidFill>
          <a:ln w="19050">
            <a:solidFill>
              <a:srgbClr val="E06A14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B2314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こんにちは、案内役のかきまるだよ！</a:t>
            </a:r>
            <a:endParaRPr lang="en-US" sz="1600" dirty="0"/>
          </a:p>
        </p:txBody>
      </p:sp>
      <p:pic>
        <p:nvPicPr>
          <p:cNvPr id="6" name="Image 0" descr="柿のゆるキャラ「かきまる」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69200" y="1016000"/>
            <a:ext cx="3810000" cy="482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EB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3B2314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栄養たっぷりの秋の果物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620490"/>
            <a:ext cx="4368800" cy="4221510"/>
          </a:xfrm>
          <a:prstGeom prst="roundRect">
            <a:avLst>
              <a:gd name="adj" fmla="val 4813"/>
            </a:avLst>
          </a:prstGeom>
          <a:solidFill>
            <a:srgbClr val="FFFDF8"/>
          </a:solidFill>
          <a:ln/>
        </p:spPr>
      </p:sp>
      <p:sp>
        <p:nvSpPr>
          <p:cNvPr id="4" name="Shape 2"/>
          <p:cNvSpPr/>
          <p:nvPr/>
        </p:nvSpPr>
        <p:spPr>
          <a:xfrm>
            <a:off x="812800" y="1620490"/>
            <a:ext cx="4368800" cy="4221510"/>
          </a:xfrm>
          <a:custGeom>
            <a:avLst/>
            <a:gdLst/>
            <a:ahLst/>
            <a:cxnLst/>
            <a:rect l="l" t="t" r="r" b="b"/>
            <a:pathLst>
              <a:path w="4368800" h="4221510">
                <a:moveTo>
                  <a:pt x="0" y="203200"/>
                </a:moveTo>
                <a:lnTo>
                  <a:pt x="0" y="203200"/>
                </a:lnTo>
                <a:arcTo hR="203200" wR="203200" stAng="10800000" swAng="5400000"/>
                <a:lnTo>
                  <a:pt x="4165600" y="0"/>
                </a:lnTo>
                <a:arcTo hR="203200" wR="203200" stAng="16200000" swAng="5400000"/>
                <a:lnTo>
                  <a:pt x="4368800" y="203200"/>
                </a:lnTo>
                <a:arcTo hR="127000" wR="203200" stAng="0" swAng="-5400000"/>
                <a:lnTo>
                  <a:pt x="203200" y="76200"/>
                </a:lnTo>
                <a:arcTo hR="127000" wR="203200" stAng="16200000" swAng="-5400000"/>
                <a:close/>
              </a:path>
            </a:pathLst>
          </a:custGeom>
          <a:solidFill>
            <a:srgbClr val="E06A14"/>
          </a:solidFill>
          <a:ln/>
        </p:spPr>
      </p:sp>
      <p:sp>
        <p:nvSpPr>
          <p:cNvPr id="5" name="Text 3"/>
          <p:cNvSpPr/>
          <p:nvPr/>
        </p:nvSpPr>
        <p:spPr>
          <a:xfrm>
            <a:off x="1168400" y="2661890"/>
            <a:ext cx="376732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84E0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ビタミンC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68400" y="3047950"/>
            <a:ext cx="37673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800"/>
              </a:lnSpc>
              <a:buNone/>
            </a:pPr>
            <a:r>
              <a:rPr lang="en-US" sz="8000" b="1" dirty="0">
                <a:solidFill>
                  <a:srgbClr val="3B2314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70mg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1168400" y="4267150"/>
            <a:ext cx="3767328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6B4A33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甘柿100gあたり。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6B4A33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温州みかんの約2倍です。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384800" y="1620490"/>
            <a:ext cx="3657600" cy="2009130"/>
          </a:xfrm>
          <a:prstGeom prst="roundRect">
            <a:avLst>
              <a:gd name="adj" fmla="val 10114"/>
            </a:avLst>
          </a:prstGeom>
          <a:solidFill>
            <a:srgbClr val="FFFDF8"/>
          </a:solidFill>
          <a:ln/>
        </p:spPr>
      </p:sp>
      <p:sp>
        <p:nvSpPr>
          <p:cNvPr id="9" name="Text 7"/>
          <p:cNvSpPr/>
          <p:nvPr/>
        </p:nvSpPr>
        <p:spPr>
          <a:xfrm>
            <a:off x="5689600" y="2101800"/>
            <a:ext cx="3139440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3B2314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β-カロテン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689600" y="2538661"/>
            <a:ext cx="313944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6B4A33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鮮やかなオレンジ色のもと。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6B4A33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体内でビタミンAに変わります。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84800" y="3832820"/>
            <a:ext cx="3657600" cy="2009180"/>
          </a:xfrm>
          <a:prstGeom prst="roundRect">
            <a:avLst>
              <a:gd name="adj" fmla="val 10114"/>
            </a:avLst>
          </a:prstGeom>
          <a:solidFill>
            <a:srgbClr val="FFFDF8"/>
          </a:solidFill>
          <a:ln/>
        </p:spPr>
      </p:sp>
      <p:sp>
        <p:nvSpPr>
          <p:cNvPr id="12" name="Text 10"/>
          <p:cNvSpPr/>
          <p:nvPr/>
        </p:nvSpPr>
        <p:spPr>
          <a:xfrm>
            <a:off x="5689600" y="4314180"/>
            <a:ext cx="3139440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3B2314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食物繊維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689600" y="4751040"/>
            <a:ext cx="313944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6B4A33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おなかの調子を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6B4A33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ととのえてくれます。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356725" y="1984375"/>
            <a:ext cx="2012950" cy="1123950"/>
          </a:xfrm>
          <a:prstGeom prst="roundRect">
            <a:avLst>
              <a:gd name="adj" fmla="val 12712"/>
            </a:avLst>
          </a:prstGeom>
          <a:solidFill>
            <a:srgbClr val="FFFDF8"/>
          </a:solidFill>
          <a:ln w="19050">
            <a:solidFill>
              <a:srgbClr val="E06A14"/>
            </a:solidFill>
            <a:prstDash val="solid"/>
          </a:ln>
        </p:spPr>
        <p:txBody>
          <a:bodyPr wrap="square" lIns="120078" tIns="120078" rIns="69278" bIns="94678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B2314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「柿が赤くなると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B2314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医者が青くなる」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B2314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って言うんだよ！</a:t>
            </a:r>
            <a:endParaRPr lang="en-US" sz="1400" dirty="0"/>
          </a:p>
        </p:txBody>
      </p:sp>
      <p:pic>
        <p:nvPicPr>
          <p:cNvPr id="15" name="Image 0" descr="案内役のかきまる">    </p:cNvPr>
          <p:cNvPicPr>
            <a:picLocks noChangeAspect="1"/>
          </p:cNvPicPr>
          <p:nvPr/>
        </p:nvPicPr>
        <p:blipFill>
          <a:blip r:embed="rId1"/>
          <a:srcRect l="-41" r="-41" t="0" b="0"/>
          <a:stretch/>
        </p:blipFill>
        <p:spPr>
          <a:xfrm>
            <a:off x="9347200" y="3270250"/>
            <a:ext cx="2032000" cy="2571750"/>
          </a:xfrm>
          <a:prstGeom prst="roundRect">
            <a:avLst>
              <a:gd name="adj" fmla="val 7500"/>
            </a:avLst>
          </a:prstGeom>
        </p:spPr>
      </p:pic>
      <p:sp>
        <p:nvSpPr>
          <p:cNvPr id="16" name="Text 1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4A33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出典：日本食品標準成分表（八訂）「かき 甘がき 生」「うんしゅうみかん じょうのう 普通 生」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3B2314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甘柿と渋柿、2つのタイプ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620490"/>
            <a:ext cx="4013200" cy="4221510"/>
          </a:xfrm>
          <a:prstGeom prst="roundRect">
            <a:avLst>
              <a:gd name="adj" fmla="val 5063"/>
            </a:avLst>
          </a:prstGeom>
          <a:solidFill>
            <a:srgbClr val="FFFDF8"/>
          </a:solidFill>
          <a:ln/>
        </p:spPr>
      </p:sp>
      <p:sp>
        <p:nvSpPr>
          <p:cNvPr id="4" name="Shape 2"/>
          <p:cNvSpPr/>
          <p:nvPr/>
        </p:nvSpPr>
        <p:spPr>
          <a:xfrm>
            <a:off x="812800" y="1620490"/>
            <a:ext cx="4013200" cy="4221510"/>
          </a:xfrm>
          <a:custGeom>
            <a:avLst/>
            <a:gdLst/>
            <a:ahLst/>
            <a:cxnLst/>
            <a:rect l="l" t="t" r="r" b="b"/>
            <a:pathLst>
              <a:path w="4013200" h="4221510">
                <a:moveTo>
                  <a:pt x="0" y="203200"/>
                </a:moveTo>
                <a:lnTo>
                  <a:pt x="0" y="203200"/>
                </a:lnTo>
                <a:arcTo hR="203200" wR="203200" stAng="10800000" swAng="5400000"/>
                <a:lnTo>
                  <a:pt x="3810000" y="0"/>
                </a:lnTo>
                <a:arcTo hR="203200" wR="203200" stAng="16200000" swAng="5400000"/>
                <a:lnTo>
                  <a:pt x="4013200" y="203200"/>
                </a:lnTo>
                <a:arcTo hR="127000" wR="203200" stAng="0" swAng="-5400000"/>
                <a:lnTo>
                  <a:pt x="203200" y="76200"/>
                </a:lnTo>
                <a:arcTo hR="127000" wR="203200" stAng="16200000" swAng="-5400000"/>
                <a:close/>
              </a:path>
            </a:pathLst>
          </a:custGeom>
          <a:solidFill>
            <a:srgbClr val="E06A14"/>
          </a:solidFill>
          <a:ln/>
        </p:spPr>
      </p:sp>
      <p:sp>
        <p:nvSpPr>
          <p:cNvPr id="5" name="Text 3"/>
          <p:cNvSpPr/>
          <p:nvPr/>
        </p:nvSpPr>
        <p:spPr>
          <a:xfrm>
            <a:off x="1168400" y="2052290"/>
            <a:ext cx="340106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84E0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甘柿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68400" y="2489150"/>
            <a:ext cx="3401060" cy="751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b="1" dirty="0">
                <a:solidFill>
                  <a:srgbClr val="3B2314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もいでそのまま</a:t>
            </a:r>
            <a:endParaRPr lang="en-US" sz="2200" dirty="0"/>
          </a:p>
          <a:p>
            <a:pPr algn="l" indent="0" marL="0">
              <a:lnSpc>
                <a:spcPts val="2860"/>
              </a:lnSpc>
              <a:buNone/>
            </a:pPr>
            <a:r>
              <a:rPr lang="en-US" sz="2200" b="1" dirty="0">
                <a:solidFill>
                  <a:srgbClr val="3B2314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食べられる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68400" y="3367931"/>
            <a:ext cx="340106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6B4A33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木の上で渋が抜けるので、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6B4A33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収穫してすぐに甘い。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68400" y="4683820"/>
            <a:ext cx="34010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4A33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代表的な品種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68400" y="5049540"/>
            <a:ext cx="812800" cy="436860"/>
          </a:xfrm>
          <a:prstGeom prst="roundRect">
            <a:avLst>
              <a:gd name="adj" fmla="val 50000"/>
            </a:avLst>
          </a:prstGeom>
          <a:solidFill>
            <a:srgbClr val="FBEBD3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B2314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富有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082800" y="5049540"/>
            <a:ext cx="812800" cy="436860"/>
          </a:xfrm>
          <a:prstGeom prst="roundRect">
            <a:avLst>
              <a:gd name="adj" fmla="val 50000"/>
            </a:avLst>
          </a:prstGeom>
          <a:solidFill>
            <a:srgbClr val="FBEBD3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B2314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次郎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29200" y="1620490"/>
            <a:ext cx="4013200" cy="4221510"/>
          </a:xfrm>
          <a:prstGeom prst="roundRect">
            <a:avLst>
              <a:gd name="adj" fmla="val 5063"/>
            </a:avLst>
          </a:prstGeom>
          <a:solidFill>
            <a:srgbClr val="FFFD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0" y="1620490"/>
            <a:ext cx="4013200" cy="4221510"/>
          </a:xfrm>
          <a:custGeom>
            <a:avLst/>
            <a:gdLst/>
            <a:ahLst/>
            <a:cxnLst/>
            <a:rect l="l" t="t" r="r" b="b"/>
            <a:pathLst>
              <a:path w="4013200" h="4221510">
                <a:moveTo>
                  <a:pt x="0" y="203200"/>
                </a:moveTo>
                <a:lnTo>
                  <a:pt x="0" y="203200"/>
                </a:lnTo>
                <a:arcTo hR="203200" wR="203200" stAng="10800000" swAng="5400000"/>
                <a:lnTo>
                  <a:pt x="3810000" y="0"/>
                </a:lnTo>
                <a:arcTo hR="203200" wR="203200" stAng="16200000" swAng="5400000"/>
                <a:lnTo>
                  <a:pt x="4013200" y="203200"/>
                </a:lnTo>
                <a:arcTo hR="127000" wR="203200" stAng="0" swAng="-5400000"/>
                <a:lnTo>
                  <a:pt x="203200" y="76200"/>
                </a:lnTo>
                <a:arcTo hR="127000" wR="203200" stAng="16200000" swAng="-5400000"/>
                <a:close/>
              </a:path>
            </a:pathLst>
          </a:custGeom>
          <a:solidFill>
            <a:srgbClr val="4E8A2A"/>
          </a:solidFill>
          <a:ln/>
        </p:spPr>
      </p:sp>
      <p:sp>
        <p:nvSpPr>
          <p:cNvPr id="13" name="Text 11"/>
          <p:cNvSpPr/>
          <p:nvPr/>
        </p:nvSpPr>
        <p:spPr>
          <a:xfrm>
            <a:off x="5384800" y="2052290"/>
            <a:ext cx="340106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D6E1F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渋柿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84800" y="2489150"/>
            <a:ext cx="3401060" cy="751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b="1" dirty="0">
                <a:solidFill>
                  <a:srgbClr val="3B2314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ひと手間で</a:t>
            </a:r>
            <a:endParaRPr lang="en-US" sz="2200" dirty="0"/>
          </a:p>
          <a:p>
            <a:pPr algn="l" indent="0" marL="0">
              <a:lnSpc>
                <a:spcPts val="2860"/>
              </a:lnSpc>
              <a:buNone/>
            </a:pPr>
            <a:r>
              <a:rPr lang="en-US" sz="2200" b="1" dirty="0">
                <a:solidFill>
                  <a:srgbClr val="3B2314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ぐっと甘くなる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384800" y="3367931"/>
            <a:ext cx="340106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6B4A33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渋抜きや干し柿にすると、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6B4A33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濃い甘さに変わる。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84800" y="4683820"/>
            <a:ext cx="34010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4A33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代表的な品種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84800" y="5049540"/>
            <a:ext cx="1016000" cy="436860"/>
          </a:xfrm>
          <a:prstGeom prst="roundRect">
            <a:avLst>
              <a:gd name="adj" fmla="val 50000"/>
            </a:avLst>
          </a:prstGeom>
          <a:solidFill>
            <a:srgbClr val="E6F0D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B2314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平核無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02400" y="5049540"/>
            <a:ext cx="1219200" cy="436860"/>
          </a:xfrm>
          <a:prstGeom prst="roundRect">
            <a:avLst>
              <a:gd name="adj" fmla="val 50000"/>
            </a:avLst>
          </a:prstGeom>
          <a:solidFill>
            <a:srgbClr val="E6F0D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B2314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刀根早生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56725" y="1984375"/>
            <a:ext cx="2012950" cy="1123950"/>
          </a:xfrm>
          <a:prstGeom prst="roundRect">
            <a:avLst>
              <a:gd name="adj" fmla="val 12712"/>
            </a:avLst>
          </a:prstGeom>
          <a:solidFill>
            <a:srgbClr val="FFFDF8"/>
          </a:solidFill>
          <a:ln w="19050">
            <a:solidFill>
              <a:srgbClr val="E06A14"/>
            </a:solidFill>
            <a:prstDash val="solid"/>
          </a:ln>
        </p:spPr>
        <p:txBody>
          <a:bodyPr wrap="square" lIns="120078" tIns="120078" rIns="69278" bIns="94678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B2314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渋柿も、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B2314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干すと甘〜く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B2314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なるんだ！</a:t>
            </a:r>
            <a:endParaRPr lang="en-US" sz="1400" dirty="0"/>
          </a:p>
        </p:txBody>
      </p:sp>
      <p:pic>
        <p:nvPicPr>
          <p:cNvPr id="20" name="Image 0" descr="案内役のかきまる">    </p:cNvPr>
          <p:cNvPicPr>
            <a:picLocks noChangeAspect="1"/>
          </p:cNvPicPr>
          <p:nvPr/>
        </p:nvPicPr>
        <p:blipFill>
          <a:blip r:embed="rId1"/>
          <a:srcRect l="-41" r="-41" t="0" b="0"/>
          <a:stretch/>
        </p:blipFill>
        <p:spPr>
          <a:xfrm>
            <a:off x="9347200" y="3270250"/>
            <a:ext cx="2032000" cy="2571750"/>
          </a:xfrm>
          <a:prstGeom prst="roundRect">
            <a:avLst>
              <a:gd name="adj" fmla="val 7500"/>
            </a:avLst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EB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3B2314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いろいろな楽しみ方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620490"/>
            <a:ext cx="4013200" cy="2009130"/>
          </a:xfrm>
          <a:prstGeom prst="roundRect">
            <a:avLst>
              <a:gd name="adj" fmla="val 10114"/>
            </a:avLst>
          </a:prstGeom>
          <a:solidFill>
            <a:srgbClr val="FFFDF8"/>
          </a:solidFill>
          <a:ln/>
        </p:spPr>
      </p:sp>
      <p:sp>
        <p:nvSpPr>
          <p:cNvPr id="4" name="Text 2"/>
          <p:cNvSpPr/>
          <p:nvPr/>
        </p:nvSpPr>
        <p:spPr>
          <a:xfrm>
            <a:off x="1117600" y="2101800"/>
            <a:ext cx="3505708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B84E0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そのまま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17600" y="2538661"/>
            <a:ext cx="3505708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6B4A33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冷やしてむくだけ。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6B4A33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シャキッと食感が楽しい。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0" y="1620490"/>
            <a:ext cx="4013200" cy="2009130"/>
          </a:xfrm>
          <a:prstGeom prst="roundRect">
            <a:avLst>
              <a:gd name="adj" fmla="val 10114"/>
            </a:avLst>
          </a:prstGeom>
          <a:solidFill>
            <a:srgbClr val="FFFDF8"/>
          </a:solidFill>
          <a:ln/>
        </p:spPr>
      </p:sp>
      <p:sp>
        <p:nvSpPr>
          <p:cNvPr id="7" name="Text 5"/>
          <p:cNvSpPr/>
          <p:nvPr/>
        </p:nvSpPr>
        <p:spPr>
          <a:xfrm>
            <a:off x="5334000" y="2101800"/>
            <a:ext cx="3505708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B84E0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干し柿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334000" y="2538661"/>
            <a:ext cx="3505708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6B4A33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ねっとり濃厚な甘さ。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6B4A33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冬の保存食にも。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2800" y="3832820"/>
            <a:ext cx="4013200" cy="2009180"/>
          </a:xfrm>
          <a:prstGeom prst="roundRect">
            <a:avLst>
              <a:gd name="adj" fmla="val 10114"/>
            </a:avLst>
          </a:prstGeom>
          <a:solidFill>
            <a:srgbClr val="FFFDF8"/>
          </a:solidFill>
          <a:ln/>
        </p:spPr>
      </p:sp>
      <p:sp>
        <p:nvSpPr>
          <p:cNvPr id="10" name="Text 8"/>
          <p:cNvSpPr/>
          <p:nvPr/>
        </p:nvSpPr>
        <p:spPr>
          <a:xfrm>
            <a:off x="1117600" y="4314180"/>
            <a:ext cx="3505708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B84E0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白和え・サラダ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17600" y="4751040"/>
            <a:ext cx="3505708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6B4A33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やさしい甘みが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6B4A33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料理のアクセントに。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0" y="3832820"/>
            <a:ext cx="4013200" cy="2009180"/>
          </a:xfrm>
          <a:prstGeom prst="roundRect">
            <a:avLst>
              <a:gd name="adj" fmla="val 10114"/>
            </a:avLst>
          </a:prstGeom>
          <a:solidFill>
            <a:srgbClr val="FFFDF8"/>
          </a:solidFill>
          <a:ln/>
        </p:spPr>
      </p:sp>
      <p:sp>
        <p:nvSpPr>
          <p:cNvPr id="13" name="Text 11"/>
          <p:cNvSpPr/>
          <p:nvPr/>
        </p:nvSpPr>
        <p:spPr>
          <a:xfrm>
            <a:off x="5334000" y="4314180"/>
            <a:ext cx="3505708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B84E0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柿の葉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334000" y="4751040"/>
            <a:ext cx="3505708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6B4A33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柿の葉寿司や柿の葉茶。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6B4A33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実以外も活躍します。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356725" y="1984375"/>
            <a:ext cx="2012950" cy="1123950"/>
          </a:xfrm>
          <a:prstGeom prst="roundRect">
            <a:avLst>
              <a:gd name="adj" fmla="val 12712"/>
            </a:avLst>
          </a:prstGeom>
          <a:solidFill>
            <a:srgbClr val="FFFDF8"/>
          </a:solidFill>
          <a:ln w="19050">
            <a:solidFill>
              <a:srgbClr val="E06A14"/>
            </a:solidFill>
            <a:prstDash val="solid"/>
          </a:ln>
        </p:spPr>
        <p:txBody>
          <a:bodyPr wrap="square" lIns="120078" tIns="120078" rIns="69278" bIns="94678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B2314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ぼくのおすすめは、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B2314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春菊と柿の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B2314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白和えだよ。</a:t>
            </a:r>
            <a:endParaRPr lang="en-US" sz="1400" dirty="0"/>
          </a:p>
        </p:txBody>
      </p:sp>
      <p:pic>
        <p:nvPicPr>
          <p:cNvPr id="16" name="Image 0" descr="案内役のかきまる">    </p:cNvPr>
          <p:cNvPicPr>
            <a:picLocks noChangeAspect="1"/>
          </p:cNvPicPr>
          <p:nvPr/>
        </p:nvPicPr>
        <p:blipFill>
          <a:blip r:embed="rId1"/>
          <a:srcRect l="-41" r="-41" t="0" b="0"/>
          <a:stretch/>
        </p:blipFill>
        <p:spPr>
          <a:xfrm>
            <a:off x="9347200" y="3270250"/>
            <a:ext cx="2032000" cy="2571750"/>
          </a:xfrm>
          <a:prstGeom prst="roundRect">
            <a:avLst>
              <a:gd name="adj" fmla="val 7500"/>
            </a:avLst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A846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798340"/>
            <a:ext cx="680212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spc="200" kern="0" dirty="0">
                <a:solidFill>
                  <a:srgbClr val="FFE3BF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旬は 10〜11月</a:t>
            </a:r>
            <a:endParaRPr lang="en-US" sz="2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443460"/>
            <a:ext cx="680212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00"/>
              </a:lnSpc>
              <a:buNone/>
            </a:pPr>
            <a:r>
              <a:rPr lang="en-US" sz="6000" b="1" i="0" dirty="0">
                <a:solidFill>
                  <a:srgbClr val="FFF6E8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この秋は、</a:t>
            </a:r>
            <a:endParaRPr lang="en-US" sz="6000" dirty="0"/>
          </a:p>
          <a:p>
            <a:pPr algn="l" indent="0" marL="0">
              <a:lnSpc>
                <a:spcPts val="6900"/>
              </a:lnSpc>
              <a:buNone/>
            </a:pPr>
            <a:r>
              <a:rPr lang="en-US" sz="6000" b="1" i="0" dirty="0">
                <a:solidFill>
                  <a:srgbClr val="FFF6E8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柿でいこう！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4450060"/>
            <a:ext cx="680212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E3BF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お店で見かけたら、ぜひ手にとってみてね。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E3BF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— かきまる</a:t>
            </a:r>
            <a:endParaRPr lang="en-US" sz="1600" dirty="0"/>
          </a:p>
        </p:txBody>
      </p:sp>
      <p:pic>
        <p:nvPicPr>
          <p:cNvPr id="5" name="Image 0" descr="手を振るかきまる">    </p:cNvPr>
          <p:cNvPicPr>
            <a:picLocks noChangeAspect="1"/>
          </p:cNvPicPr>
          <p:nvPr/>
        </p:nvPicPr>
        <p:blipFill>
          <a:blip r:embed="rId1"/>
          <a:srcRect l="-24" r="-24" t="0" b="0"/>
          <a:stretch/>
        </p:blipFill>
        <p:spPr>
          <a:xfrm>
            <a:off x="7823200" y="1177925"/>
            <a:ext cx="3556000" cy="4502150"/>
          </a:xfrm>
          <a:prstGeom prst="roundRect">
            <a:avLst>
              <a:gd name="adj" fmla="val 5714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かきまると学ぶ 柿の魅力">
  <a:themeElements>
    <a:clrScheme name="かきまると学ぶ 柿の魅力">
      <a:dk1>
        <a:srgbClr val="3B2314"/>
      </a:dk1>
      <a:lt1>
        <a:srgbClr val="FBEBD3"/>
      </a:lt1>
      <a:dk2>
        <a:srgbClr val="6B5544"/>
      </a:dk2>
      <a:lt2>
        <a:srgbClr val="E8D7C0"/>
      </a:lt2>
      <a:accent1>
        <a:srgbClr val="6B4A33"/>
      </a:accent1>
      <a:accent2>
        <a:srgbClr val="B84E0C"/>
      </a:accent2>
      <a:accent3>
        <a:srgbClr val="3D6E1F"/>
      </a:accent3>
      <a:accent4>
        <a:srgbClr val="A8460A"/>
      </a:accent4>
      <a:accent5>
        <a:srgbClr val="9AA0A6"/>
      </a:accent5>
      <a:accent6>
        <a:srgbClr val="887360"/>
      </a:accent6>
      <a:hlink>
        <a:srgbClr val="0563C1"/>
      </a:hlink>
      <a:folHlink>
        <a:srgbClr val="954F72"/>
      </a:folHlink>
    </a:clrScheme>
    <a:fontScheme name="かきまると学ぶ 柿の魅力">
      <a:majorFont>
        <a:latin typeface="Zen Mar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Zen Mar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かきまると学ぶ 柿の魅力</dc:title>
  <dc:subject/>
  <dc:creator/>
  <cp:lastModifiedBy/>
  <cp:revision>1</cp:revision>
  <dcterms:created xsi:type="dcterms:W3CDTF">2026-10-30T00:18:45Z</dcterms:created>
  <dcterms:modified xsi:type="dcterms:W3CDTF">2026-10-30T00:18:45Z</dcterms:modified>
</cp:coreProperties>
</file>